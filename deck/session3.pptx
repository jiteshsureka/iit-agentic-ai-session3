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2057777-ad28-84dc-de7b-08d99f7d738e}">
          <p14:sldIdLst>
            <p14:sldId id="256"/>
            <p14:sldId id="257"/>
          </p14:sldIdLst>
        </p14:section>
        <p14:section name="Basic agent" id="{c586d007-8397-2ad5-001d-d7f9ac9338c5}">
          <p14:sldIdLst>
            <p14:sldId id="258"/>
            <p14:sldId id="259"/>
            <p14:sldId id="260"/>
          </p14:sldIdLst>
        </p14:section>
        <p14:section name="Agent patterns" id="{a343811f-51f8-9876-f1ce-50c6f0c3572f}">
          <p14:sldIdLst>
            <p14:sldId id="261"/>
            <p14:sldId id="262"/>
          </p14:sldIdLst>
        </p14:section>
        <p14:section name="MCP" id="{2bb9ce99-eded-5355-ffb0-301bfdd5181c}">
          <p14:sldIdLst>
            <p14:sldId id="263"/>
            <p14:sldId id="264"/>
          </p14:sldIdLst>
        </p14:section>
        <p14:section name="RAG" id="{ebf18e6f-2bb1-3bfa-a754-f7b81579c0c8}">
          <p14:sldIdLst>
            <p14:sldId id="265"/>
            <p14:sldId id="266"/>
          </p14:sldIdLst>
        </p14:section>
        <p14:section name="Agent SDK and guardrails" id="{a469230e-6b23-3b59-9f77-3aee00413962}">
          <p14:sldIdLst>
            <p14:sldId id="267"/>
            <p14:sldId id="268"/>
            <p14:sldId id="269"/>
          </p14:sldIdLst>
        </p14:section>
        <p14:section name="The 70% rule" id="{1976abb9-6bc6-db72-76f8-ecfc275ca86f}">
          <p14:sldIdLst>
            <p14:sldId id="270"/>
            <p14:sldId id="271"/>
            <p14:sldId id="272"/>
          </p14:sldIdLst>
        </p14:section>
        <p14:section name="Your task" id="{b4acfa28-fa56-a952-ed5a-76272e393ef4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0:00-0:30. Quick hello. Session 1 gave you the loop, Session 2 gave you a coding agent. Today we build our own agent and add six upgrades. Everything runs on one small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0:30-2:00. Walk the six cards left to right. Total talk is 30 minutes, then the hands-on starts straight away from the task slides at the end of this deck. Point out: every card you see here becomes one step in their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2:00-3:00. Keep it short. A student loses a calculator, another finds one. Three tools: two read-only, one writes. The writing tool is the dangerous one, and we will come back to it twice: once for MCP, once for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3:00-5:00. This is the Session 1 loop, one slide. The key sentence: the model never executes anything. It returns a request, our code decides what happens. That is why guardrails live in code, not in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5:00-8:00. Read the code top to bottom in 30 seconds, then RUN THE DEMO. Point at: (1) one printed line per step, (2) the model chose search_items itself, (3) the answer names two calculators, one found one lost. Then try a bad question: 'Who stole my bag?' to show it refuses to guess. FALLBACK: cat demos/out/01-agent.txt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8:00-10:30. ReAct is what we just built. Plan-first adds a planning call before the loop. Reflection adds a critic call after it. One sentence each, then move on: the next slide is where we see whether the extra call pays for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10:30-13:00. RUN THE DEMO (takes about a minute, talk over it). It prints a 3-row table: steps, tokens, correct out of 3. Read the numbers aloud. Honest message: more machinery does not automatically mean more correct. Reflection can only polish wording because the critic cannot call tools. Ask the room: which would you ship? Rehearsal run (Haiku): ReAct 6 steps / ~6.4k tokens / 3 of 3; Plan-first 12 / ~15.6k / 2 of 3; Reflection 9 / ~8.2k / 2 of 3. Say it out loud: only 3 tasks, so results vary run to run; the pattern to notice is cost, not the exact score. FALLBACK: cat demos/out/02-patterns.txt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13:00-15:00. Without a standard, every app needs custom code for every tool: N times M. With MCP every app speaks one protocol and every tool speaks the same one. USB-C for AI tools. It matters here because the tool we wrote for our own agent will work in Claude Code with zero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15:00-18:00. Show the 10 lines, then run the command in a second terminal, open Claude Code and ask: 'any lost calculators?'. Point at the tool-call line mcp__lostfound__search_items. Say out loud: we chose to leave add_item out. An MCP server is a doorway; every tool you expose is a tool anyone with that client can use. FALLBACK: show the screenshot you took when rehearsing, or describe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18:00-20:00. Five boxes. The point of RAG: the model answers from documents you control, and shows its source. The right-hand card matters most: a good RAG system says 'not in the notes' instead of inventing a Wi-Fi password. That is hallucination control from Session 1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20:00-22:00. RUN THE DEMO with the Wi-Fi question first (expected: exactly 'not in the notes'), then run it with no argument to see all three questions. Tell the bug story: we caught prefix matching turning 'Wi-Fi' into 'window' in the offline check. That is why RAG needs tests on the 'no answer' case, not just the happy path. FALLBACK: cat demos/out/04-rag.txt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22:00-24:00. Left: everything from slide 5 that we no longer write. Right: the same agent, pointed at the MCP server from slide 9. Two settings to call out: tools: [] (otherwise the SDK agent gets Bash and file access, which is a lot of power for a lost-and-found bot) and maxTurns, our old step cap. Optional: node demos/05-sdk.mjs. FALLBACK: cat demos/out/05-sdk.txt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24:00-25:30. One pass across four cards: before the model, around each tool, before a write, after the model. The sentence to land: a rule in the system prompt can be talked around; a rule in code cannot. This is why the earlier 'the model never executes anything'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25:30-27:00. RUN THE DEMO. Case 1: ask for Mehedi's number, the answer shows [phone hidden]. Case 2: the y/n prompt appears; answer n first, then show nothing was written. Case 3: the long input is blocked before any model call, so it costs nothing. FALLBACK: cat demos/out/06-guardrails.txt (it was recorded with AUTO_YES=1).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27:00-28:30. 70% is a rule of thumb, not a measurement. The point: agents are fastest where the path is well-worn, and the remaining work is exactly the work that needs judgment. Today's example: the agent wrote the loop in minutes; the decision to leave add_item out of MCP was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28:30-29:30. Three cards, one example each, all from the thing we just built. Tie to Session 2: this is why we read diffs critically and why tests are the human's job even when the agent writes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29:30-30:00. Read the six lines in ten seconds. Then: 'Your turn. The next slides are your task, step by step. They stay on screen while you work.'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starts here. Leave the setup slide up first, then move through the steps as the room progresses.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IIT Agentic AI Workshop  |  Session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From Loop to Agent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Build, connect and guard a real AI agent</a:t>
            </a:r>
            <a:endParaRPr lang="en-US" sz="2000" dirty="0"/>
          </a:p>
        </p:txBody>
      </p:sp>
      <p:sp>
        <p:nvSpPr>
          <p:cNvPr id="4" name="byline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IIT Agentic AI Workshop  |  Day 1, Session 3  |  Jitesh Sureka</a:t>
            </a:r>
            <a:endParaRPr lang="en-US" sz="1200" dirty="0"/>
          </a:p>
        </p:txBody>
      </p:sp>
      <p:sp>
        <p:nvSpPr>
          <p:cNvPr id="5" name="hero circle"/>
          <p:cNvSpPr/>
          <p:nvPr/>
        </p:nvSpPr>
        <p:spPr>
          <a:xfrm>
            <a:off x="6309360" y="1097280"/>
            <a:ext cx="2377440" cy="23774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her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3736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Today: one agent, six upgrades</a:t>
            </a:r>
            <a:endParaRPr lang="en-US" sz="3600" dirty="0"/>
          </a:p>
        </p:txBody>
      </p:sp>
      <p:sp>
        <p:nvSpPr>
          <p:cNvPr id="3" name="stop 1"/>
          <p:cNvSpPr/>
          <p:nvPr/>
        </p:nvSpPr>
        <p:spPr>
          <a:xfrm>
            <a:off x="457200" y="128016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4" name="stop 1 circle"/>
          <p:cNvSpPr/>
          <p:nvPr/>
        </p:nvSpPr>
        <p:spPr>
          <a:xfrm>
            <a:off x="768096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sto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1629461"/>
            <a:ext cx="307238" cy="307238"/>
          </a:xfrm>
          <a:prstGeom prst="rect">
            <a:avLst/>
          </a:prstGeom>
        </p:spPr>
      </p:pic>
      <p:sp>
        <p:nvSpPr>
          <p:cNvPr id="6" name="stop 1 label"/>
          <p:cNvSpPr txBox="1"/>
          <p:nvPr/>
        </p:nvSpPr>
        <p:spPr>
          <a:xfrm>
            <a:off x="548640" y="228600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Basic agent</a:t>
            </a:r>
            <a:endParaRPr lang="en-US" sz="1500" dirty="0"/>
          </a:p>
        </p:txBody>
      </p:sp>
      <p:sp>
        <p:nvSpPr>
          <p:cNvPr id="7" name="stop 1 time"/>
          <p:cNvSpPr txBox="1"/>
          <p:nvPr/>
        </p:nvSpPr>
        <p:spPr>
          <a:xfrm>
            <a:off x="548640" y="3108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6 min</a:t>
            </a:r>
            <a:endParaRPr lang="en-US" sz="1300" dirty="0"/>
          </a:p>
        </p:txBody>
      </p:sp>
      <p:sp>
        <p:nvSpPr>
          <p:cNvPr id="8" name="stop 2"/>
          <p:cNvSpPr/>
          <p:nvPr/>
        </p:nvSpPr>
        <p:spPr>
          <a:xfrm>
            <a:off x="1847088" y="128016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9" name="stop 2 circle"/>
          <p:cNvSpPr/>
          <p:nvPr/>
        </p:nvSpPr>
        <p:spPr>
          <a:xfrm>
            <a:off x="2157984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sto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405" y="1629461"/>
            <a:ext cx="307238" cy="307238"/>
          </a:xfrm>
          <a:prstGeom prst="rect">
            <a:avLst/>
          </a:prstGeom>
        </p:spPr>
      </p:pic>
      <p:sp>
        <p:nvSpPr>
          <p:cNvPr id="11" name="stop 2 label"/>
          <p:cNvSpPr txBox="1"/>
          <p:nvPr/>
        </p:nvSpPr>
        <p:spPr>
          <a:xfrm>
            <a:off x="1938528" y="228600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Patterns</a:t>
            </a:r>
            <a:endParaRPr lang="en-US" sz="1500" dirty="0"/>
          </a:p>
        </p:txBody>
      </p:sp>
      <p:sp>
        <p:nvSpPr>
          <p:cNvPr id="12" name="stop 2 time"/>
          <p:cNvSpPr txBox="1"/>
          <p:nvPr/>
        </p:nvSpPr>
        <p:spPr>
          <a:xfrm>
            <a:off x="1938528" y="3108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 min</a:t>
            </a:r>
            <a:endParaRPr lang="en-US" sz="1300" dirty="0"/>
          </a:p>
        </p:txBody>
      </p:sp>
      <p:sp>
        <p:nvSpPr>
          <p:cNvPr id="13" name="stop 3"/>
          <p:cNvSpPr/>
          <p:nvPr/>
        </p:nvSpPr>
        <p:spPr>
          <a:xfrm>
            <a:off x="3236976" y="128016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14" name="stop 3 circle"/>
          <p:cNvSpPr/>
          <p:nvPr/>
        </p:nvSpPr>
        <p:spPr>
          <a:xfrm>
            <a:off x="3547872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sto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293" y="1629461"/>
            <a:ext cx="307238" cy="307238"/>
          </a:xfrm>
          <a:prstGeom prst="rect">
            <a:avLst/>
          </a:prstGeom>
        </p:spPr>
      </p:pic>
      <p:sp>
        <p:nvSpPr>
          <p:cNvPr id="16" name="stop 3 label"/>
          <p:cNvSpPr txBox="1"/>
          <p:nvPr/>
        </p:nvSpPr>
        <p:spPr>
          <a:xfrm>
            <a:off x="3328416" y="228600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MCP</a:t>
            </a:r>
            <a:endParaRPr lang="en-US" sz="1500" dirty="0"/>
          </a:p>
        </p:txBody>
      </p:sp>
      <p:sp>
        <p:nvSpPr>
          <p:cNvPr id="17" name="stop 3 time"/>
          <p:cNvSpPr txBox="1"/>
          <p:nvPr/>
        </p:nvSpPr>
        <p:spPr>
          <a:xfrm>
            <a:off x="3328416" y="3108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 min</a:t>
            </a:r>
            <a:endParaRPr lang="en-US" sz="1300" dirty="0"/>
          </a:p>
        </p:txBody>
      </p:sp>
      <p:sp>
        <p:nvSpPr>
          <p:cNvPr id="18" name="stop 4"/>
          <p:cNvSpPr/>
          <p:nvPr/>
        </p:nvSpPr>
        <p:spPr>
          <a:xfrm>
            <a:off x="4626864" y="128016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19" name="stop 4 circle"/>
          <p:cNvSpPr/>
          <p:nvPr/>
        </p:nvSpPr>
        <p:spPr>
          <a:xfrm>
            <a:off x="4937760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sto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181" y="1629461"/>
            <a:ext cx="307238" cy="307238"/>
          </a:xfrm>
          <a:prstGeom prst="rect">
            <a:avLst/>
          </a:prstGeom>
        </p:spPr>
      </p:pic>
      <p:sp>
        <p:nvSpPr>
          <p:cNvPr id="21" name="stop 4 label"/>
          <p:cNvSpPr txBox="1"/>
          <p:nvPr/>
        </p:nvSpPr>
        <p:spPr>
          <a:xfrm>
            <a:off x="4718304" y="228600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RAG</a:t>
            </a:r>
            <a:endParaRPr lang="en-US" sz="1500" dirty="0"/>
          </a:p>
        </p:txBody>
      </p:sp>
      <p:sp>
        <p:nvSpPr>
          <p:cNvPr id="22" name="stop 4 time"/>
          <p:cNvSpPr txBox="1"/>
          <p:nvPr/>
        </p:nvSpPr>
        <p:spPr>
          <a:xfrm>
            <a:off x="4718304" y="3108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 min</a:t>
            </a:r>
            <a:endParaRPr lang="en-US" sz="1300" dirty="0"/>
          </a:p>
        </p:txBody>
      </p:sp>
      <p:sp>
        <p:nvSpPr>
          <p:cNvPr id="23" name="stop 5"/>
          <p:cNvSpPr/>
          <p:nvPr/>
        </p:nvSpPr>
        <p:spPr>
          <a:xfrm>
            <a:off x="6016752" y="128016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24" name="stop 5 circle"/>
          <p:cNvSpPr/>
          <p:nvPr/>
        </p:nvSpPr>
        <p:spPr>
          <a:xfrm>
            <a:off x="6327648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sto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4069" y="1629461"/>
            <a:ext cx="307238" cy="307238"/>
          </a:xfrm>
          <a:prstGeom prst="rect">
            <a:avLst/>
          </a:prstGeom>
        </p:spPr>
      </p:pic>
      <p:sp>
        <p:nvSpPr>
          <p:cNvPr id="26" name="stop 5 label"/>
          <p:cNvSpPr txBox="1"/>
          <p:nvPr/>
        </p:nvSpPr>
        <p:spPr>
          <a:xfrm>
            <a:off x="6108192" y="228600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SDK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guardrails</a:t>
            </a:r>
            <a:endParaRPr lang="en-US" sz="1500" dirty="0"/>
          </a:p>
        </p:txBody>
      </p:sp>
      <p:sp>
        <p:nvSpPr>
          <p:cNvPr id="27" name="stop 5 time"/>
          <p:cNvSpPr txBox="1"/>
          <p:nvPr/>
        </p:nvSpPr>
        <p:spPr>
          <a:xfrm>
            <a:off x="6108192" y="3108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 min</a:t>
            </a:r>
            <a:endParaRPr lang="en-US" sz="1300" dirty="0"/>
          </a:p>
        </p:txBody>
      </p:sp>
      <p:sp>
        <p:nvSpPr>
          <p:cNvPr id="28" name="stop 6"/>
          <p:cNvSpPr/>
          <p:nvPr/>
        </p:nvSpPr>
        <p:spPr>
          <a:xfrm>
            <a:off x="7406640" y="1280160"/>
            <a:ext cx="1261872" cy="22860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/>
        </p:spPr>
      </p:sp>
      <p:sp>
        <p:nvSpPr>
          <p:cNvPr id="29" name="stop 6 circle"/>
          <p:cNvSpPr/>
          <p:nvPr/>
        </p:nvSpPr>
        <p:spPr>
          <a:xfrm>
            <a:off x="7717536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0" name="stop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3957" y="1629461"/>
            <a:ext cx="307238" cy="307238"/>
          </a:xfrm>
          <a:prstGeom prst="rect">
            <a:avLst/>
          </a:prstGeom>
        </p:spPr>
      </p:pic>
      <p:sp>
        <p:nvSpPr>
          <p:cNvPr id="31" name="stop 6 label"/>
          <p:cNvSpPr txBox="1"/>
          <p:nvPr/>
        </p:nvSpPr>
        <p:spPr>
          <a:xfrm>
            <a:off x="7498080" y="228600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70% rule</a:t>
            </a:r>
            <a:endParaRPr lang="en-US" sz="1500" dirty="0"/>
          </a:p>
        </p:txBody>
      </p:sp>
      <p:sp>
        <p:nvSpPr>
          <p:cNvPr id="32" name="stop 6 time"/>
          <p:cNvSpPr txBox="1"/>
          <p:nvPr/>
        </p:nvSpPr>
        <p:spPr>
          <a:xfrm>
            <a:off x="7498080" y="31089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3 min</a:t>
            </a:r>
            <a:endParaRPr lang="en-US" sz="1300" dirty="0"/>
          </a:p>
        </p:txBody>
      </p:sp>
      <p:sp>
        <p:nvSpPr>
          <p:cNvPr id="33" name="example line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Running example: one Lost &amp; Found assistant, upgraded a step at a time.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example: Lost &amp; Found</a:t>
            </a:r>
            <a:endParaRPr lang="en-US" sz="3600" dirty="0"/>
          </a:p>
        </p:txBody>
      </p:sp>
      <p:sp>
        <p:nvSpPr>
          <p:cNvPr id="3" name="item json"/>
          <p:cNvSpPr/>
          <p:nvPr/>
        </p:nvSpPr>
        <p:spPr>
          <a:xfrm>
            <a:off x="457200" y="1280160"/>
            <a:ext cx="4114800" cy="1920240"/>
          </a:xfrm>
          <a:prstGeom prst="roundRect">
            <a:avLst>
              <a:gd name="adj" fmla="val 3810"/>
            </a:avLst>
          </a:prstGeom>
          <a:solidFill>
            <a:schemeClr val="tx1"/>
          </a:solidFill>
          <a:ln/>
        </p:spPr>
      </p:sp>
      <p:sp>
        <p:nvSpPr>
          <p:cNvPr id="4" name="item json text"/>
          <p:cNvSpPr txBox="1"/>
          <p:nvPr/>
        </p:nvSpPr>
        <p:spPr>
          <a:xfrm>
            <a:off x="640080" y="14173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10,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"Casio FX-82 calculator",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"location": "Exam hall B",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"lost",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"contact": "Reported by Mehedi" }</a:t>
            </a:r>
            <a:endParaRPr lang="en-US" sz="1300" dirty="0"/>
          </a:p>
        </p:txBody>
      </p:sp>
      <p:sp>
        <p:nvSpPr>
          <p:cNvPr id="5" name="data caption"/>
          <p:cNvSpPr txBox="1"/>
          <p:nvPr/>
        </p:nvSpPr>
        <p:spPr>
          <a:xfrm>
            <a:off x="45720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12 items in data/items.json</a:t>
            </a:r>
            <a:endParaRPr lang="en-US" sz="1300" dirty="0"/>
          </a:p>
        </p:txBody>
      </p:sp>
      <p:sp>
        <p:nvSpPr>
          <p:cNvPr id="6" name="tool 1"/>
          <p:cNvSpPr/>
          <p:nvPr/>
        </p:nvSpPr>
        <p:spPr>
          <a:xfrm>
            <a:off x="4846320" y="128016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tool 1 circle"/>
          <p:cNvSpPr/>
          <p:nvPr/>
        </p:nvSpPr>
        <p:spPr>
          <a:xfrm>
            <a:off x="4983480" y="1389888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8" name="tool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6617" y="1523025"/>
            <a:ext cx="245791" cy="245791"/>
          </a:xfrm>
          <a:prstGeom prst="rect">
            <a:avLst/>
          </a:prstGeom>
        </p:spPr>
      </p:pic>
      <p:sp>
        <p:nvSpPr>
          <p:cNvPr id="9" name="tool 1 name"/>
          <p:cNvSpPr txBox="1"/>
          <p:nvPr/>
        </p:nvSpPr>
        <p:spPr>
          <a:xfrm>
            <a:off x="562356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search_items(query)</a:t>
            </a:r>
            <a:endParaRPr lang="en-US" sz="1400" dirty="0"/>
          </a:p>
        </p:txBody>
      </p:sp>
      <p:sp>
        <p:nvSpPr>
          <p:cNvPr id="10" name="tool 1 desc"/>
          <p:cNvSpPr txBox="1"/>
          <p:nvPr/>
        </p:nvSpPr>
        <p:spPr>
          <a:xfrm>
            <a:off x="5623560" y="1682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find items by keyword</a:t>
            </a:r>
            <a:endParaRPr lang="en-US" sz="1300" dirty="0"/>
          </a:p>
        </p:txBody>
      </p:sp>
      <p:sp>
        <p:nvSpPr>
          <p:cNvPr id="11" name="tool 2"/>
          <p:cNvSpPr/>
          <p:nvPr/>
        </p:nvSpPr>
        <p:spPr>
          <a:xfrm>
            <a:off x="4846320" y="214884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tool 2 circle"/>
          <p:cNvSpPr/>
          <p:nvPr/>
        </p:nvSpPr>
        <p:spPr>
          <a:xfrm>
            <a:off x="4983480" y="2258568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tool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617" y="2391705"/>
            <a:ext cx="245791" cy="245791"/>
          </a:xfrm>
          <a:prstGeom prst="rect">
            <a:avLst/>
          </a:prstGeom>
        </p:spPr>
      </p:pic>
      <p:sp>
        <p:nvSpPr>
          <p:cNvPr id="14" name="tool 2 name"/>
          <p:cNvSpPr txBox="1"/>
          <p:nvPr/>
        </p:nvSpPr>
        <p:spPr>
          <a:xfrm>
            <a:off x="5623560" y="2240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get_item(id)</a:t>
            </a:r>
            <a:endParaRPr lang="en-US" sz="1400" dirty="0"/>
          </a:p>
        </p:txBody>
      </p:sp>
      <p:sp>
        <p:nvSpPr>
          <p:cNvPr id="15" name="tool 2 desc"/>
          <p:cNvSpPr txBox="1"/>
          <p:nvPr/>
        </p:nvSpPr>
        <p:spPr>
          <a:xfrm>
            <a:off x="5623560" y="2551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read one item</a:t>
            </a:r>
            <a:endParaRPr lang="en-US" sz="1300" dirty="0"/>
          </a:p>
        </p:txBody>
      </p:sp>
      <p:sp>
        <p:nvSpPr>
          <p:cNvPr id="16" name="tool 3"/>
          <p:cNvSpPr/>
          <p:nvPr/>
        </p:nvSpPr>
        <p:spPr>
          <a:xfrm>
            <a:off x="4846320" y="301752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tool 3 circle"/>
          <p:cNvSpPr/>
          <p:nvPr/>
        </p:nvSpPr>
        <p:spPr>
          <a:xfrm>
            <a:off x="4983480" y="3127248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tool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617" y="3260385"/>
            <a:ext cx="245791" cy="245791"/>
          </a:xfrm>
          <a:prstGeom prst="rect">
            <a:avLst/>
          </a:prstGeom>
        </p:spPr>
      </p:pic>
      <p:sp>
        <p:nvSpPr>
          <p:cNvPr id="19" name="tool 3 name"/>
          <p:cNvSpPr txBox="1"/>
          <p:nvPr/>
        </p:nvSpPr>
        <p:spPr>
          <a:xfrm>
            <a:off x="5623560" y="31089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add_item(...)</a:t>
            </a:r>
            <a:endParaRPr lang="en-US" sz="1400" dirty="0"/>
          </a:p>
        </p:txBody>
      </p:sp>
      <p:sp>
        <p:nvSpPr>
          <p:cNvPr id="20" name="tool 3 desc"/>
          <p:cNvSpPr txBox="1"/>
          <p:nvPr/>
        </p:nvSpPr>
        <p:spPr>
          <a:xfrm>
            <a:off x="5623560" y="3419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writes to the file</a:t>
            </a:r>
            <a:endParaRPr lang="en-US" sz="1300" dirty="0"/>
          </a:p>
        </p:txBody>
      </p:sp>
      <p:sp>
        <p:nvSpPr>
          <p:cNvPr id="21" name="takeaway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tools read. One tool writes. Remember that for the guardrails.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Agent = model + tools + loop</a:t>
            </a:r>
            <a:endParaRPr lang="en-US" sz="3600" dirty="0"/>
          </a:p>
        </p:txBody>
      </p:sp>
      <p:sp>
        <p:nvSpPr>
          <p:cNvPr id="3" name="loop Context"/>
          <p:cNvSpPr/>
          <p:nvPr/>
        </p:nvSpPr>
        <p:spPr>
          <a:xfrm>
            <a:off x="457200" y="132588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loop 1 label"/>
          <p:cNvSpPr txBox="1"/>
          <p:nvPr/>
        </p:nvSpPr>
        <p:spPr>
          <a:xfrm>
            <a:off x="457200" y="1325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Context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148840" y="1783080"/>
            <a:ext cx="365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loop Plan"/>
          <p:cNvSpPr/>
          <p:nvPr/>
        </p:nvSpPr>
        <p:spPr>
          <a:xfrm>
            <a:off x="2560320" y="132588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loop 2 label"/>
          <p:cNvSpPr txBox="1"/>
          <p:nvPr/>
        </p:nvSpPr>
        <p:spPr>
          <a:xfrm>
            <a:off x="2560320" y="1325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65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loop Act (call a tool)"/>
          <p:cNvSpPr/>
          <p:nvPr/>
        </p:nvSpPr>
        <p:spPr>
          <a:xfrm>
            <a:off x="4663440" y="132588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0" name="loop 3 label"/>
          <p:cNvSpPr txBox="1"/>
          <p:nvPr/>
        </p:nvSpPr>
        <p:spPr>
          <a:xfrm>
            <a:off x="4663440" y="1325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(call a tool)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365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loop Check"/>
          <p:cNvSpPr/>
          <p:nvPr/>
        </p:nvSpPr>
        <p:spPr>
          <a:xfrm>
            <a:off x="6766560" y="132588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loop 4 label"/>
          <p:cNvSpPr txBox="1"/>
          <p:nvPr/>
        </p:nvSpPr>
        <p:spPr>
          <a:xfrm>
            <a:off x="6766560" y="1325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Check</a:t>
            </a:r>
            <a:endParaRPr lang="en-US" sz="1800" dirty="0"/>
          </a:p>
        </p:txBody>
      </p:sp>
      <p:sp>
        <p:nvSpPr>
          <p:cNvPr id="14" name="loop caption"/>
          <p:cNvSpPr txBox="1"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repeat until the model answers, or the step cap hits (6)</a:t>
            </a:r>
            <a:endParaRPr lang="en-US" sz="1400" dirty="0"/>
          </a:p>
        </p:txBody>
      </p:sp>
      <p:sp>
        <p:nvSpPr>
          <p:cNvPr id="15" name="model col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6" name="model text"/>
          <p:cNvSpPr txBox="1"/>
          <p:nvPr/>
        </p:nvSpPr>
        <p:spPr>
          <a:xfrm>
            <a:off x="640080" y="3017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model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the context. Says which tool to call and with what arguments. Never runs anything.</a:t>
            </a:r>
            <a:endParaRPr lang="en-US" sz="1800" dirty="0"/>
          </a:p>
        </p:txBody>
      </p:sp>
      <p:sp>
        <p:nvSpPr>
          <p:cNvPr id="17" name="code col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8" name="code text"/>
          <p:cNvSpPr txBox="1"/>
          <p:nvPr/>
        </p:nvSpPr>
        <p:spPr>
          <a:xfrm>
            <a:off x="4846320" y="3017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Your code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the tool. Sends the result back. Enforces the step cap. The loop is yours.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loop in code</a:t>
            </a:r>
            <a:endParaRPr lang="en-US" sz="3600" dirty="0"/>
          </a:p>
        </p:txBody>
      </p:sp>
      <p:sp>
        <p:nvSpPr>
          <p:cNvPr id="3" name="loop code"/>
          <p:cNvSpPr/>
          <p:nvPr/>
        </p:nvSpPr>
        <p:spPr>
          <a:xfrm>
            <a:off x="457200" y="1188720"/>
            <a:ext cx="5120640" cy="2788920"/>
          </a:xfrm>
          <a:prstGeom prst="roundRect">
            <a:avLst>
              <a:gd name="adj" fmla="val 2623"/>
            </a:avLst>
          </a:prstGeom>
          <a:solidFill>
            <a:schemeClr val="tx1"/>
          </a:solidFill>
          <a:ln/>
        </p:spPr>
      </p:sp>
      <p:sp>
        <p:nvSpPr>
          <p:cNvPr id="4" name="loop code text"/>
          <p:cNvSpPr txBox="1"/>
          <p:nvPr/>
        </p:nvSpPr>
        <p:spPr>
          <a:xfrm>
            <a:off x="640080" y="1325880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step = 1; step &lt;= maxSteps; step++)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client.messages.create(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model, system, tools: toolDefs, messages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messages.push({ role: "assistant",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content: res.content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calls = res.content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.filter(b =&gt; b.type === "tool_use");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(!calls.length) return finalText(res);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run each tool, send the results back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messages.push({ role: "user",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calls.map(runAndWrap)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tep 1"/>
          <p:cNvSpPr/>
          <p:nvPr/>
        </p:nvSpPr>
        <p:spPr>
          <a:xfrm>
            <a:off x="5852160" y="1325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llout 1"/>
          <p:cNvSpPr txBox="1"/>
          <p:nvPr/>
        </p:nvSpPr>
        <p:spPr>
          <a:xfrm>
            <a:off x="6355080" y="12618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 answers, or asks for a tool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5852160" y="2240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callout 2"/>
          <p:cNvSpPr txBox="1"/>
          <p:nvPr/>
        </p:nvSpPr>
        <p:spPr>
          <a:xfrm>
            <a:off x="6355080" y="21762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Our code runs the tool</a:t>
            </a:r>
            <a:endParaRPr lang="en-US" sz="1500" dirty="0"/>
          </a:p>
        </p:txBody>
      </p:sp>
      <p:sp>
        <p:nvSpPr>
          <p:cNvPr id="11" name="step 3"/>
          <p:cNvSpPr/>
          <p:nvPr/>
        </p:nvSpPr>
        <p:spPr>
          <a:xfrm>
            <a:off x="5852160" y="31546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callout 3"/>
          <p:cNvSpPr txBox="1"/>
          <p:nvPr/>
        </p:nvSpPr>
        <p:spPr>
          <a:xfrm>
            <a:off x="6355080" y="30906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Result goes back as the next message</a:t>
            </a:r>
            <a:endParaRPr lang="en-US" sz="1500" dirty="0"/>
          </a:p>
        </p:txBody>
      </p:sp>
      <p:sp>
        <p:nvSpPr>
          <p:cNvPr id="14" name="demo strip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5" name="demo tag"/>
          <p:cNvSpPr/>
          <p:nvPr/>
        </p:nvSpPr>
        <p:spPr>
          <a:xfrm>
            <a:off x="566928" y="4197096"/>
            <a:ext cx="105156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1970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LIVE DEMO</a:t>
            </a:r>
            <a:endParaRPr lang="en-US" sz="1100" dirty="0"/>
          </a:p>
        </p:txBody>
      </p:sp>
      <p:sp>
        <p:nvSpPr>
          <p:cNvPr id="17" name="demo command"/>
          <p:cNvSpPr txBox="1"/>
          <p:nvPr/>
        </p:nvSpPr>
        <p:spPr>
          <a:xfrm>
            <a:off x="1783080" y="4114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demos/01-agent.mjs "Are there any lost calculators?"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ways to run the loop</a:t>
            </a:r>
            <a:endParaRPr lang="en-US" sz="3600" dirty="0"/>
          </a:p>
        </p:txBody>
      </p:sp>
      <p:sp>
        <p:nvSpPr>
          <p:cNvPr id="3" name="pattern ReAct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pattern ReAct circle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pattern Re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6" name="ReAct name"/>
          <p:cNvSpPr txBox="1"/>
          <p:nvPr/>
        </p:nvSpPr>
        <p:spPr>
          <a:xfrm>
            <a:off x="6858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ReAct</a:t>
            </a:r>
            <a:endParaRPr lang="en-US" sz="2200" dirty="0"/>
          </a:p>
        </p:txBody>
      </p:sp>
      <p:sp>
        <p:nvSpPr>
          <p:cNvPr id="7" name="ReAct how"/>
          <p:cNvSpPr txBox="1"/>
          <p:nvPr/>
        </p:nvSpPr>
        <p:spPr>
          <a:xfrm>
            <a:off x="68580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Think, act, observe, repeat.</a:t>
            </a:r>
            <a:endParaRPr lang="en-US" sz="1500" dirty="0"/>
          </a:p>
        </p:txBody>
      </p:sp>
      <p:sp>
        <p:nvSpPr>
          <p:cNvPr id="8" name="ReAct best"/>
          <p:cNvSpPr txBox="1"/>
          <p:nvPr/>
        </p:nvSpPr>
        <p:spPr>
          <a:xfrm>
            <a:off x="685800" y="3337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when: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Open-ended tasks where the path is unknown.</a:t>
            </a:r>
            <a:endParaRPr lang="en-US" sz="1400" dirty="0"/>
          </a:p>
        </p:txBody>
      </p:sp>
      <p:sp>
        <p:nvSpPr>
          <p:cNvPr id="9" name="ReAct cost"/>
          <p:cNvSpPr txBox="1"/>
          <p:nvPr/>
        </p:nvSpPr>
        <p:spPr>
          <a:xfrm>
            <a:off x="68580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Baseline</a:t>
            </a:r>
            <a:endParaRPr lang="en-US" sz="1300" dirty="0"/>
          </a:p>
        </p:txBody>
      </p:sp>
      <p:sp>
        <p:nvSpPr>
          <p:cNvPr id="10" name="pattern Plan first"/>
          <p:cNvSpPr/>
          <p:nvPr/>
        </p:nvSpPr>
        <p:spPr>
          <a:xfrm>
            <a:off x="329184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1" name="pattern Plan first circle"/>
          <p:cNvSpPr/>
          <p:nvPr/>
        </p:nvSpPr>
        <p:spPr>
          <a:xfrm>
            <a:off x="3520440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pattern Plan firs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629461"/>
            <a:ext cx="307238" cy="307238"/>
          </a:xfrm>
          <a:prstGeom prst="rect">
            <a:avLst/>
          </a:prstGeom>
        </p:spPr>
      </p:pic>
      <p:sp>
        <p:nvSpPr>
          <p:cNvPr id="13" name="Plan first name"/>
          <p:cNvSpPr txBox="1"/>
          <p:nvPr/>
        </p:nvSpPr>
        <p:spPr>
          <a:xfrm>
            <a:off x="352044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Plan first</a:t>
            </a:r>
            <a:endParaRPr lang="en-US" sz="2200" dirty="0"/>
          </a:p>
        </p:txBody>
      </p:sp>
      <p:sp>
        <p:nvSpPr>
          <p:cNvPr id="14" name="Plan first how"/>
          <p:cNvSpPr txBox="1"/>
          <p:nvPr/>
        </p:nvSpPr>
        <p:spPr>
          <a:xfrm>
            <a:off x="352044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a numbered plan, then follow it.</a:t>
            </a:r>
            <a:endParaRPr lang="en-US" sz="1500" dirty="0"/>
          </a:p>
        </p:txBody>
      </p:sp>
      <p:sp>
        <p:nvSpPr>
          <p:cNvPr id="15" name="Plan first best"/>
          <p:cNvSpPr txBox="1"/>
          <p:nvPr/>
        </p:nvSpPr>
        <p:spPr>
          <a:xfrm>
            <a:off x="3520440" y="3337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when: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Multi-step tasks with a known shape.</a:t>
            </a:r>
            <a:endParaRPr lang="en-US" sz="1400" dirty="0"/>
          </a:p>
        </p:txBody>
      </p:sp>
      <p:sp>
        <p:nvSpPr>
          <p:cNvPr id="16" name="Plan first cost"/>
          <p:cNvSpPr txBox="1"/>
          <p:nvPr/>
        </p:nvSpPr>
        <p:spPr>
          <a:xfrm>
            <a:off x="35204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+1 model call</a:t>
            </a:r>
            <a:endParaRPr lang="en-US" sz="1300" dirty="0"/>
          </a:p>
        </p:txBody>
      </p:sp>
      <p:sp>
        <p:nvSpPr>
          <p:cNvPr id="17" name="pattern Reflection"/>
          <p:cNvSpPr/>
          <p:nvPr/>
        </p:nvSpPr>
        <p:spPr>
          <a:xfrm>
            <a:off x="612648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8" name="pattern Reflection circle"/>
          <p:cNvSpPr/>
          <p:nvPr/>
        </p:nvSpPr>
        <p:spPr>
          <a:xfrm>
            <a:off x="6355080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pattern Reflec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629461"/>
            <a:ext cx="307238" cy="307238"/>
          </a:xfrm>
          <a:prstGeom prst="rect">
            <a:avLst/>
          </a:prstGeom>
        </p:spPr>
      </p:pic>
      <p:sp>
        <p:nvSpPr>
          <p:cNvPr id="20" name="Reflection name"/>
          <p:cNvSpPr txBox="1"/>
          <p:nvPr/>
        </p:nvSpPr>
        <p:spPr>
          <a:xfrm>
            <a:off x="63550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Reflection</a:t>
            </a:r>
            <a:endParaRPr lang="en-US" sz="2200" dirty="0"/>
          </a:p>
        </p:txBody>
      </p:sp>
      <p:sp>
        <p:nvSpPr>
          <p:cNvPr id="21" name="Reflection how"/>
          <p:cNvSpPr txBox="1"/>
          <p:nvPr/>
        </p:nvSpPr>
        <p:spPr>
          <a:xfrm>
            <a:off x="635508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Draft, score it, rewrite once.</a:t>
            </a:r>
            <a:endParaRPr lang="en-US" sz="1500" dirty="0"/>
          </a:p>
        </p:txBody>
      </p:sp>
      <p:sp>
        <p:nvSpPr>
          <p:cNvPr id="22" name="Reflection best"/>
          <p:cNvSpPr txBox="1"/>
          <p:nvPr/>
        </p:nvSpPr>
        <p:spPr>
          <a:xfrm>
            <a:off x="6355080" y="3337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when: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where quality beats speed.</a:t>
            </a:r>
            <a:endParaRPr lang="en-US" sz="1400" dirty="0"/>
          </a:p>
        </p:txBody>
      </p:sp>
      <p:sp>
        <p:nvSpPr>
          <p:cNvPr id="23" name="Reflection cost"/>
          <p:cNvSpPr txBox="1"/>
          <p:nvPr/>
        </p:nvSpPr>
        <p:spPr>
          <a:xfrm>
            <a:off x="635508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+1 model call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Do the extra calls pay off?</a:t>
            </a:r>
            <a:endParaRPr lang="en-US" sz="3600" dirty="0"/>
          </a:p>
        </p:txBody>
      </p:sp>
      <p:graphicFrame>
        <p:nvGraphicFramePr>
          <p:cNvPr id="8" name="patter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74320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Pattern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Extra calls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Helps with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Watch out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ReAct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Unknown paths, recovering from tool errors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 wander. Keep the step cap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Plan first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Multi-step tasks, fewer wasted calls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bad plan sends the loop the wrong way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Reflection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Wording, completeness, format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critic has no tools, so it cannot check facts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Numbers come from the terminal, not this slide: compare steps, tokens and correct.</a:t>
            </a:r>
            <a:endParaRPr lang="en-US" sz="1500" dirty="0"/>
          </a:p>
        </p:txBody>
      </p:sp>
      <p:sp>
        <p:nvSpPr>
          <p:cNvPr id="5" name="demo strip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6" name="demo tag"/>
          <p:cNvSpPr/>
          <p:nvPr/>
        </p:nvSpPr>
        <p:spPr>
          <a:xfrm>
            <a:off x="566928" y="4197096"/>
            <a:ext cx="105156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6928" y="41970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LIVE DEMO</a:t>
            </a:r>
            <a:endParaRPr lang="en-US" sz="1100" dirty="0"/>
          </a:p>
        </p:txBody>
      </p:sp>
      <p:sp>
        <p:nvSpPr>
          <p:cNvPr id="8" name="demo command"/>
          <p:cNvSpPr txBox="1"/>
          <p:nvPr/>
        </p:nvSpPr>
        <p:spPr>
          <a:xfrm>
            <a:off x="1783080" y="4114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demos/02-patterns.mjs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MCP: one plug for every tool</a:t>
            </a:r>
            <a:endParaRPr lang="en-US" sz="3600" dirty="0"/>
          </a:p>
        </p:txBody>
      </p:sp>
      <p:sp>
        <p:nvSpPr>
          <p:cNvPr id="3" name="before head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Before: N x M custom glue</a:t>
            </a:r>
            <a:endParaRPr lang="en-US" sz="1600" dirty="0"/>
          </a:p>
        </p:txBody>
      </p:sp>
      <p:sp>
        <p:nvSpPr>
          <p:cNvPr id="4" name="after head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After: N + M, one protocol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45920" y="2011680"/>
            <a:ext cx="15544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011680"/>
            <a:ext cx="1554480" cy="8229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011680"/>
            <a:ext cx="1554480" cy="164592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645920" y="2011680"/>
            <a:ext cx="1554480" cy="8229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2834640"/>
            <a:ext cx="15544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834640"/>
            <a:ext cx="1554480" cy="8229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645920" y="2011680"/>
            <a:ext cx="1554480" cy="164592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645920" y="2834640"/>
            <a:ext cx="1554480" cy="8229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3657600"/>
            <a:ext cx="155448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4" name="before app 0"/>
          <p:cNvSpPr/>
          <p:nvPr/>
        </p:nvSpPr>
        <p:spPr>
          <a:xfrm>
            <a:off x="457200" y="1783080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Claude Code</a:t>
            </a:r>
            <a:endParaRPr lang="en-US" sz="1200" dirty="0"/>
          </a:p>
        </p:txBody>
      </p:sp>
      <p:sp>
        <p:nvSpPr>
          <p:cNvPr id="16" name="before src 0"/>
          <p:cNvSpPr/>
          <p:nvPr/>
        </p:nvSpPr>
        <p:spPr>
          <a:xfrm>
            <a:off x="3200400" y="1783080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0040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Lost &amp; Found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2011680"/>
            <a:ext cx="457200" cy="8686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812280" y="2011680"/>
            <a:ext cx="457200" cy="8686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0" name="after app 0"/>
          <p:cNvSpPr/>
          <p:nvPr/>
        </p:nvSpPr>
        <p:spPr>
          <a:xfrm>
            <a:off x="4572000" y="1783080"/>
            <a:ext cx="10515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17830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Claude Code</a:t>
            </a:r>
            <a:endParaRPr lang="en-US" sz="1200" dirty="0"/>
          </a:p>
        </p:txBody>
      </p:sp>
      <p:sp>
        <p:nvSpPr>
          <p:cNvPr id="22" name="after src 0"/>
          <p:cNvSpPr/>
          <p:nvPr/>
        </p:nvSpPr>
        <p:spPr>
          <a:xfrm>
            <a:off x="7269480" y="1783080"/>
            <a:ext cx="14173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69480" y="1783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Lost &amp; Found</a:t>
            </a:r>
            <a:endParaRPr lang="en-US" sz="1200" dirty="0"/>
          </a:p>
        </p:txBody>
      </p:sp>
      <p:sp>
        <p:nvSpPr>
          <p:cNvPr id="24" name="before app 1"/>
          <p:cNvSpPr/>
          <p:nvPr/>
        </p:nvSpPr>
        <p:spPr>
          <a:xfrm>
            <a:off x="457200" y="2606040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Our agent</a:t>
            </a:r>
            <a:endParaRPr lang="en-US" sz="1200" dirty="0"/>
          </a:p>
        </p:txBody>
      </p:sp>
      <p:sp>
        <p:nvSpPr>
          <p:cNvPr id="26" name="before src 1"/>
          <p:cNvSpPr/>
          <p:nvPr/>
        </p:nvSpPr>
        <p:spPr>
          <a:xfrm>
            <a:off x="3200400" y="2606040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0040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23560" y="2834640"/>
            <a:ext cx="457200" cy="457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812280" y="2834640"/>
            <a:ext cx="457200" cy="457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0" name="after app 1"/>
          <p:cNvSpPr/>
          <p:nvPr/>
        </p:nvSpPr>
        <p:spPr>
          <a:xfrm>
            <a:off x="4572000" y="2606040"/>
            <a:ext cx="10515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72000" y="2606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Our agent</a:t>
            </a:r>
            <a:endParaRPr lang="en-US" sz="1200" dirty="0"/>
          </a:p>
        </p:txBody>
      </p:sp>
      <p:sp>
        <p:nvSpPr>
          <p:cNvPr id="32" name="after src 1"/>
          <p:cNvSpPr/>
          <p:nvPr/>
        </p:nvSpPr>
        <p:spPr>
          <a:xfrm>
            <a:off x="7269480" y="2606040"/>
            <a:ext cx="14173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69480" y="2606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GitHub</a:t>
            </a:r>
            <a:endParaRPr lang="en-US" sz="1200" dirty="0"/>
          </a:p>
        </p:txBody>
      </p:sp>
      <p:sp>
        <p:nvSpPr>
          <p:cNvPr id="34" name="before app 2"/>
          <p:cNvSpPr/>
          <p:nvPr/>
        </p:nvSpPr>
        <p:spPr>
          <a:xfrm>
            <a:off x="457200" y="3429000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3429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Your IDE</a:t>
            </a:r>
            <a:endParaRPr lang="en-US" sz="1200" dirty="0"/>
          </a:p>
        </p:txBody>
      </p:sp>
      <p:sp>
        <p:nvSpPr>
          <p:cNvPr id="36" name="before src 2"/>
          <p:cNvSpPr/>
          <p:nvPr/>
        </p:nvSpPr>
        <p:spPr>
          <a:xfrm>
            <a:off x="3200400" y="3429000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200400" y="3429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Docs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 flipV="1">
            <a:off x="5623560" y="2880360"/>
            <a:ext cx="457200" cy="7772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2880360"/>
            <a:ext cx="457200" cy="7772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0" name="after app 2"/>
          <p:cNvSpPr/>
          <p:nvPr/>
        </p:nvSpPr>
        <p:spPr>
          <a:xfrm>
            <a:off x="4572000" y="3429000"/>
            <a:ext cx="10515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72000" y="34290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Your IDE</a:t>
            </a:r>
            <a:endParaRPr lang="en-US" sz="1200" dirty="0"/>
          </a:p>
        </p:txBody>
      </p:sp>
      <p:sp>
        <p:nvSpPr>
          <p:cNvPr id="42" name="after src 2"/>
          <p:cNvSpPr/>
          <p:nvPr/>
        </p:nvSpPr>
        <p:spPr>
          <a:xfrm>
            <a:off x="7269480" y="3429000"/>
            <a:ext cx="14173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269480" y="3429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Docs</a:t>
            </a:r>
            <a:endParaRPr lang="en-US" sz="1200" dirty="0"/>
          </a:p>
        </p:txBody>
      </p:sp>
      <p:sp>
        <p:nvSpPr>
          <p:cNvPr id="44" name="mcp hub"/>
          <p:cNvSpPr/>
          <p:nvPr/>
        </p:nvSpPr>
        <p:spPr>
          <a:xfrm>
            <a:off x="6080760" y="2514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08076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MCP</a:t>
            </a:r>
            <a:endParaRPr lang="en-US" sz="1400" dirty="0"/>
          </a:p>
        </p:txBody>
      </p:sp>
      <p:sp>
        <p:nvSpPr>
          <p:cNvPr id="46" name="mcp caption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9 integrations become 3 + 3.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tool as an MCP server</a:t>
            </a:r>
            <a:endParaRPr lang="en-US" sz="3600" dirty="0"/>
          </a:p>
        </p:txBody>
      </p:sp>
      <p:sp>
        <p:nvSpPr>
          <p:cNvPr id="3" name="mcp code"/>
          <p:cNvSpPr/>
          <p:nvPr/>
        </p:nvSpPr>
        <p:spPr>
          <a:xfrm>
            <a:off x="457200" y="1188720"/>
            <a:ext cx="5120640" cy="2697480"/>
          </a:xfrm>
          <a:prstGeom prst="roundRect">
            <a:avLst>
              <a:gd name="adj" fmla="val 2712"/>
            </a:avLst>
          </a:prstGeom>
          <a:solidFill>
            <a:schemeClr val="tx1"/>
          </a:solidFill>
          <a:ln/>
        </p:spPr>
      </p:sp>
      <p:sp>
        <p:nvSpPr>
          <p:cNvPr id="4" name="mcp code text"/>
          <p:cNvSpPr txBox="1"/>
          <p:nvPr/>
        </p:nvSpPr>
        <p:spPr>
          <a:xfrm>
            <a:off x="640080" y="1325880"/>
            <a:ext cx="4754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new McpServer(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"lostfound", version: "1.0.0" 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name of ["search_items", "get_item"])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server.registerTool(name,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description, inputSchema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(args) =&gt; ({ content: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type: "text", text: runTool(name, args)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 }));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server.connect(new StdioServerTransport());</a:t>
            </a:r>
            <a:endParaRPr lang="en-US" sz="1200" dirty="0"/>
          </a:p>
        </p:txBody>
      </p:sp>
      <p:sp>
        <p:nvSpPr>
          <p:cNvPr id="5" name="mcp note 1"/>
          <p:cNvSpPr/>
          <p:nvPr/>
        </p:nvSpPr>
        <p:spPr>
          <a:xfrm>
            <a:off x="5806440" y="1188720"/>
            <a:ext cx="2880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6" name="same server circle"/>
          <p:cNvSpPr/>
          <p:nvPr/>
        </p:nvSpPr>
        <p:spPr>
          <a:xfrm>
            <a:off x="5943600" y="13258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same serv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2" y="1444752"/>
            <a:ext cx="219456" cy="219456"/>
          </a:xfrm>
          <a:prstGeom prst="rect">
            <a:avLst/>
          </a:prstGeom>
        </p:spPr>
      </p:pic>
      <p:sp>
        <p:nvSpPr>
          <p:cNvPr id="8" name="mcp note 1 text"/>
          <p:cNvSpPr txBox="1"/>
          <p:nvPr/>
        </p:nvSpPr>
        <p:spPr>
          <a:xfrm>
            <a:off x="6492240" y="1280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server works in Claude Code and in our SDK agent.</a:t>
            </a:r>
            <a:endParaRPr lang="en-US" sz="1400" dirty="0"/>
          </a:p>
        </p:txBody>
      </p:sp>
      <p:sp>
        <p:nvSpPr>
          <p:cNvPr id="9" name="mcp note 2"/>
          <p:cNvSpPr/>
          <p:nvPr/>
        </p:nvSpPr>
        <p:spPr>
          <a:xfrm>
            <a:off x="5806440" y="2606040"/>
            <a:ext cx="2880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no writes circle"/>
          <p:cNvSpPr/>
          <p:nvPr/>
        </p:nvSpPr>
        <p:spPr>
          <a:xfrm>
            <a:off x="5943600" y="27432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no writ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2862072"/>
            <a:ext cx="219456" cy="219456"/>
          </a:xfrm>
          <a:prstGeom prst="rect">
            <a:avLst/>
          </a:prstGeom>
        </p:spPr>
      </p:pic>
      <p:sp>
        <p:nvSpPr>
          <p:cNvPr id="12" name="mcp note 2 text"/>
          <p:cNvSpPr txBox="1"/>
          <p:nvPr/>
        </p:nvSpPr>
        <p:spPr>
          <a:xfrm>
            <a:off x="649224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add_item is not exposed. Writes stay with a human.</a:t>
            </a:r>
            <a:endParaRPr lang="en-US" sz="1400" dirty="0"/>
          </a:p>
        </p:txBody>
      </p:sp>
      <p:sp>
        <p:nvSpPr>
          <p:cNvPr id="13" name="demo strip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4" name="demo tag"/>
          <p:cNvSpPr/>
          <p:nvPr/>
        </p:nvSpPr>
        <p:spPr>
          <a:xfrm>
            <a:off x="566928" y="4197096"/>
            <a:ext cx="105156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66928" y="41970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LIVE DEMO</a:t>
            </a:r>
            <a:endParaRPr lang="en-US" sz="1100" dirty="0"/>
          </a:p>
        </p:txBody>
      </p:sp>
      <p:sp>
        <p:nvSpPr>
          <p:cNvPr id="16" name="demo command"/>
          <p:cNvSpPr txBox="1"/>
          <p:nvPr/>
        </p:nvSpPr>
        <p:spPr>
          <a:xfrm>
            <a:off x="1783080" y="4114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lostfound -- node demos/03-mcp-server.mjs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RAG: answer from real documents</a:t>
            </a:r>
            <a:endParaRPr lang="en-US" sz="3600" dirty="0"/>
          </a:p>
        </p:txBody>
      </p:sp>
      <p:sp>
        <p:nvSpPr>
          <p:cNvPr id="3" name="rag Split"/>
          <p:cNvSpPr/>
          <p:nvPr/>
        </p:nvSpPr>
        <p:spPr>
          <a:xfrm>
            <a:off x="457200" y="128016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rag Split circle"/>
          <p:cNvSpPr/>
          <p:nvPr/>
        </p:nvSpPr>
        <p:spPr>
          <a:xfrm>
            <a:off x="914400" y="14173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rag Spli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559966"/>
            <a:ext cx="263347" cy="263347"/>
          </a:xfrm>
          <a:prstGeom prst="rect">
            <a:avLst/>
          </a:prstGeom>
        </p:spPr>
      </p:pic>
      <p:sp>
        <p:nvSpPr>
          <p:cNvPr id="6" name="rag Split name"/>
          <p:cNvSpPr txBox="1"/>
          <p:nvPr/>
        </p:nvSpPr>
        <p:spPr>
          <a:xfrm>
            <a:off x="45720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Split</a:t>
            </a:r>
            <a:endParaRPr lang="en-US" sz="1700" dirty="0"/>
          </a:p>
        </p:txBody>
      </p:sp>
      <p:sp>
        <p:nvSpPr>
          <p:cNvPr id="7" name="rag Split desc"/>
          <p:cNvSpPr txBox="1"/>
          <p:nvPr/>
        </p:nvSpPr>
        <p:spPr>
          <a:xfrm>
            <a:off x="54864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notes into sections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938528" y="2084832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rag Index"/>
          <p:cNvSpPr/>
          <p:nvPr/>
        </p:nvSpPr>
        <p:spPr>
          <a:xfrm>
            <a:off x="2148840" y="128016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rag Index circle"/>
          <p:cNvSpPr/>
          <p:nvPr/>
        </p:nvSpPr>
        <p:spPr>
          <a:xfrm>
            <a:off x="2606040" y="14173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rag Index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686" y="1559966"/>
            <a:ext cx="263347" cy="263347"/>
          </a:xfrm>
          <a:prstGeom prst="rect">
            <a:avLst/>
          </a:prstGeom>
        </p:spPr>
      </p:pic>
      <p:sp>
        <p:nvSpPr>
          <p:cNvPr id="12" name="rag Index name"/>
          <p:cNvSpPr txBox="1"/>
          <p:nvPr/>
        </p:nvSpPr>
        <p:spPr>
          <a:xfrm>
            <a:off x="214884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Index</a:t>
            </a:r>
            <a:endParaRPr lang="en-US" sz="1700" dirty="0"/>
          </a:p>
        </p:txBody>
      </p:sp>
      <p:sp>
        <p:nvSpPr>
          <p:cNvPr id="13" name="rag Index desc"/>
          <p:cNvSpPr txBox="1"/>
          <p:nvPr/>
        </p:nvSpPr>
        <p:spPr>
          <a:xfrm>
            <a:off x="224028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with minisearch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30168" y="2084832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rag Retrieve"/>
          <p:cNvSpPr/>
          <p:nvPr/>
        </p:nvSpPr>
        <p:spPr>
          <a:xfrm>
            <a:off x="3840480" y="128016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rag Retrieve circle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rag Retriev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326" y="1559966"/>
            <a:ext cx="263347" cy="263347"/>
          </a:xfrm>
          <a:prstGeom prst="rect">
            <a:avLst/>
          </a:prstGeom>
        </p:spPr>
      </p:pic>
      <p:sp>
        <p:nvSpPr>
          <p:cNvPr id="18" name="rag Retrieve name"/>
          <p:cNvSpPr txBox="1"/>
          <p:nvPr/>
        </p:nvSpPr>
        <p:spPr>
          <a:xfrm>
            <a:off x="384048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Retrieve</a:t>
            </a:r>
            <a:endParaRPr lang="en-US" sz="1700" dirty="0"/>
          </a:p>
        </p:txBody>
      </p:sp>
      <p:sp>
        <p:nvSpPr>
          <p:cNvPr id="19" name="rag Retrieve desc"/>
          <p:cNvSpPr txBox="1"/>
          <p:nvPr/>
        </p:nvSpPr>
        <p:spPr>
          <a:xfrm>
            <a:off x="393192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the top 3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321808" y="2084832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rag Ask"/>
          <p:cNvSpPr/>
          <p:nvPr/>
        </p:nvSpPr>
        <p:spPr>
          <a:xfrm>
            <a:off x="5532120" y="128016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2" name="rag Ask circle"/>
          <p:cNvSpPr/>
          <p:nvPr/>
        </p:nvSpPr>
        <p:spPr>
          <a:xfrm>
            <a:off x="5989320" y="14173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rag As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966" y="1559966"/>
            <a:ext cx="263347" cy="263347"/>
          </a:xfrm>
          <a:prstGeom prst="rect">
            <a:avLst/>
          </a:prstGeom>
        </p:spPr>
      </p:pic>
      <p:sp>
        <p:nvSpPr>
          <p:cNvPr id="24" name="rag Ask name"/>
          <p:cNvSpPr txBox="1"/>
          <p:nvPr/>
        </p:nvSpPr>
        <p:spPr>
          <a:xfrm>
            <a:off x="553212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Ask</a:t>
            </a:r>
            <a:endParaRPr lang="en-US" sz="1700" dirty="0"/>
          </a:p>
        </p:txBody>
      </p:sp>
      <p:sp>
        <p:nvSpPr>
          <p:cNvPr id="25" name="rag Ask desc"/>
          <p:cNvSpPr txBox="1"/>
          <p:nvPr/>
        </p:nvSpPr>
        <p:spPr>
          <a:xfrm>
            <a:off x="562356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sources only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013448" y="2084832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rag Cite"/>
          <p:cNvSpPr/>
          <p:nvPr/>
        </p:nvSpPr>
        <p:spPr>
          <a:xfrm>
            <a:off x="7223760" y="128016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8" name="rag Cite circle"/>
          <p:cNvSpPr/>
          <p:nvPr/>
        </p:nvSpPr>
        <p:spPr>
          <a:xfrm>
            <a:off x="7680960" y="14173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9" name="rag Cit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606" y="1559966"/>
            <a:ext cx="263347" cy="263347"/>
          </a:xfrm>
          <a:prstGeom prst="rect">
            <a:avLst/>
          </a:prstGeom>
        </p:spPr>
      </p:pic>
      <p:sp>
        <p:nvSpPr>
          <p:cNvPr id="30" name="rag Cite name"/>
          <p:cNvSpPr txBox="1"/>
          <p:nvPr/>
        </p:nvSpPr>
        <p:spPr>
          <a:xfrm>
            <a:off x="722376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Cite</a:t>
            </a:r>
            <a:endParaRPr lang="en-US" sz="1700" dirty="0"/>
          </a:p>
        </p:txBody>
      </p:sp>
      <p:sp>
        <p:nvSpPr>
          <p:cNvPr id="31" name="rag Cite desc"/>
          <p:cNvSpPr txBox="1"/>
          <p:nvPr/>
        </p:nvSpPr>
        <p:spPr>
          <a:xfrm>
            <a:off x="731520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file + heading</a:t>
            </a:r>
            <a:endParaRPr lang="en-US" sz="1300" dirty="0"/>
          </a:p>
        </p:txBody>
      </p:sp>
      <p:sp>
        <p:nvSpPr>
          <p:cNvPr id="32" name="answerable"/>
          <p:cNvSpPr/>
          <p:nvPr/>
        </p:nvSpPr>
        <p:spPr>
          <a:xfrm>
            <a:off x="457200" y="310896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33" name="answerable text"/>
          <p:cNvSpPr txBox="1"/>
          <p:nvPr/>
        </p:nvSpPr>
        <p:spPr>
          <a:xfrm>
            <a:off x="640080" y="32004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Answerable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What happens when the context window fills up?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Older content is dropped or summarized.  [context-window.md &gt; When it fills up]</a:t>
            </a:r>
            <a:endParaRPr lang="en-US" sz="1400" dirty="0"/>
          </a:p>
        </p:txBody>
      </p:sp>
      <p:sp>
        <p:nvSpPr>
          <p:cNvPr id="34" name="unanswerable"/>
          <p:cNvSpPr/>
          <p:nvPr/>
        </p:nvSpPr>
        <p:spPr>
          <a:xfrm>
            <a:off x="4663440" y="310896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35" name="unanswerable text"/>
          <p:cNvSpPr txBox="1"/>
          <p:nvPr/>
        </p:nvSpPr>
        <p:spPr>
          <a:xfrm>
            <a:off x="4846320" y="32004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Not answerable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What is the Wi-Fi password in Lab 3?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 in the notes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Cite, or say you don't know</a:t>
            </a:r>
            <a:endParaRPr lang="en-US" sz="3600" dirty="0"/>
          </a:p>
        </p:txBody>
      </p:sp>
      <p:sp>
        <p:nvSpPr>
          <p:cNvPr id="3" name="rag code"/>
          <p:cNvSpPr/>
          <p:nvPr/>
        </p:nvSpPr>
        <p:spPr>
          <a:xfrm>
            <a:off x="457200" y="1188720"/>
            <a:ext cx="4754880" cy="2697480"/>
          </a:xfrm>
          <a:prstGeom prst="roundRect">
            <a:avLst>
              <a:gd name="adj" fmla="val 2712"/>
            </a:avLst>
          </a:prstGeom>
          <a:solidFill>
            <a:schemeClr val="tx1"/>
          </a:solidFill>
          <a:ln/>
        </p:spPr>
      </p:sp>
      <p:sp>
        <p:nvSpPr>
          <p:cNvPr id="4" name="rag code text"/>
          <p:cNvSpPr txBox="1"/>
          <p:nvPr/>
        </p:nvSpPr>
        <p:spPr>
          <a:xfrm>
            <a:off x="640080" y="1325880"/>
            <a:ext cx="4389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top 3 sections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hits = retrieve(question);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evidence: skip the model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(hits.length === 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"not in the notes";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 ONLY from the sources.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Cite every claim as [file &gt; heading].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the sources do not answer, reply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exactly: not in the notes"</a:t>
            </a:r>
            <a:endParaRPr lang="en-US" sz="1200" dirty="0"/>
          </a:p>
        </p:txBody>
      </p:sp>
      <p:sp>
        <p:nvSpPr>
          <p:cNvPr id="5" name="step 1"/>
          <p:cNvSpPr/>
          <p:nvPr/>
        </p:nvSpPr>
        <p:spPr>
          <a:xfrm>
            <a:off x="5440680" y="12801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4068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rag rule 1"/>
          <p:cNvSpPr txBox="1"/>
          <p:nvPr/>
        </p:nvSpPr>
        <p:spPr>
          <a:xfrm>
            <a:off x="5943600" y="1188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Cite every claim, so a human can check it.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5440680" y="2240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4068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rag rule 2"/>
          <p:cNvSpPr txBox="1"/>
          <p:nvPr/>
        </p:nvSpPr>
        <p:spPr>
          <a:xfrm>
            <a:off x="5943600" y="2148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evidence means no model call: cheaper, and it cannot hallucinate.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5440680" y="32004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4068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rag rule 3"/>
          <p:cNvSpPr txBox="1"/>
          <p:nvPr/>
        </p:nvSpPr>
        <p:spPr>
          <a:xfrm>
            <a:off x="5943600" y="3108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Tune retrieval. Prefix search turned "Wi-Fi" into "window" until we limited it to 4+ letters.</a:t>
            </a:r>
            <a:endParaRPr lang="en-US" sz="1400" dirty="0"/>
          </a:p>
        </p:txBody>
      </p:sp>
      <p:sp>
        <p:nvSpPr>
          <p:cNvPr id="14" name="demo strip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5" name="demo tag"/>
          <p:cNvSpPr/>
          <p:nvPr/>
        </p:nvSpPr>
        <p:spPr>
          <a:xfrm>
            <a:off x="566928" y="4197096"/>
            <a:ext cx="105156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1970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LIVE DEMO</a:t>
            </a:r>
            <a:endParaRPr lang="en-US" sz="1100" dirty="0"/>
          </a:p>
        </p:txBody>
      </p:sp>
      <p:sp>
        <p:nvSpPr>
          <p:cNvPr id="17" name="demo command"/>
          <p:cNvSpPr txBox="1"/>
          <p:nvPr/>
        </p:nvSpPr>
        <p:spPr>
          <a:xfrm>
            <a:off x="1783080" y="4114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demos/04-rag.mjs "What is the Wi-Fi password in Lab 3?"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Agent SDK: delete the loop</a:t>
            </a:r>
            <a:endParaRPr lang="en-US" sz="3600" dirty="0"/>
          </a:p>
        </p:txBody>
      </p:sp>
      <p:sp>
        <p:nvSpPr>
          <p:cNvPr id="3" name="delete card"/>
          <p:cNvSpPr/>
          <p:nvPr/>
        </p:nvSpPr>
        <p:spPr>
          <a:xfrm>
            <a:off x="457200" y="1188720"/>
            <a:ext cx="37490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delete head"/>
          <p:cNvSpPr txBox="1"/>
          <p:nvPr/>
        </p:nvSpPr>
        <p:spPr>
          <a:xfrm>
            <a:off x="64008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Code you stop writing</a:t>
            </a:r>
            <a:endParaRPr lang="en-US" sz="1700" dirty="0"/>
          </a:p>
        </p:txBody>
      </p:sp>
      <p:pic>
        <p:nvPicPr>
          <p:cNvPr id="5" name="delet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37744" cy="237744"/>
          </a:xfrm>
          <a:prstGeom prst="rect">
            <a:avLst/>
          </a:prstGeom>
        </p:spPr>
      </p:pic>
      <p:sp>
        <p:nvSpPr>
          <p:cNvPr id="6" name="delete item 1"/>
          <p:cNvSpPr txBox="1"/>
          <p:nvPr/>
        </p:nvSpPr>
        <p:spPr>
          <a:xfrm>
            <a:off x="1005840" y="17830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message list</a:t>
            </a:r>
            <a:endParaRPr lang="en-US" sz="1400" dirty="0"/>
          </a:p>
        </p:txBody>
      </p:sp>
      <p:pic>
        <p:nvPicPr>
          <p:cNvPr id="7" name="delet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04288"/>
            <a:ext cx="237744" cy="237744"/>
          </a:xfrm>
          <a:prstGeom prst="rect">
            <a:avLst/>
          </a:prstGeom>
        </p:spPr>
      </p:pic>
      <p:sp>
        <p:nvSpPr>
          <p:cNvPr id="8" name="delete item 2"/>
          <p:cNvSpPr txBox="1"/>
          <p:nvPr/>
        </p:nvSpPr>
        <p:spPr>
          <a:xfrm>
            <a:off x="1005840" y="2258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loop and the step counter</a:t>
            </a:r>
            <a:endParaRPr lang="en-US" sz="1400" dirty="0"/>
          </a:p>
        </p:txBody>
      </p:sp>
      <p:pic>
        <p:nvPicPr>
          <p:cNvPr id="9" name="delet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79776"/>
            <a:ext cx="237744" cy="237744"/>
          </a:xfrm>
          <a:prstGeom prst="rect">
            <a:avLst/>
          </a:prstGeom>
        </p:spPr>
      </p:pic>
      <p:sp>
        <p:nvSpPr>
          <p:cNvPr id="10" name="delete item 3"/>
          <p:cNvSpPr txBox="1"/>
          <p:nvPr/>
        </p:nvSpPr>
        <p:spPr>
          <a:xfrm>
            <a:off x="1005840" y="27340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Tool lookup and dispatch</a:t>
            </a:r>
            <a:endParaRPr lang="en-US" sz="1400" dirty="0"/>
          </a:p>
        </p:txBody>
      </p:sp>
      <p:pic>
        <p:nvPicPr>
          <p:cNvPr id="11" name="delet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55264"/>
            <a:ext cx="237744" cy="237744"/>
          </a:xfrm>
          <a:prstGeom prst="rect">
            <a:avLst/>
          </a:prstGeom>
        </p:spPr>
      </p:pic>
      <p:sp>
        <p:nvSpPr>
          <p:cNvPr id="12" name="delete item 4"/>
          <p:cNvSpPr txBox="1"/>
          <p:nvPr/>
        </p:nvSpPr>
        <p:spPr>
          <a:xfrm>
            <a:off x="1005840" y="32095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 wrapping for tool results</a:t>
            </a:r>
            <a:endParaRPr lang="en-US" sz="1400" dirty="0"/>
          </a:p>
        </p:txBody>
      </p:sp>
      <p:sp>
        <p:nvSpPr>
          <p:cNvPr id="13" name="sdk code"/>
          <p:cNvSpPr/>
          <p:nvPr/>
        </p:nvSpPr>
        <p:spPr>
          <a:xfrm>
            <a:off x="4389120" y="1188720"/>
            <a:ext cx="429768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</p:spPr>
      </p:sp>
      <p:sp>
        <p:nvSpPr>
          <p:cNvPr id="14" name="sdk code text"/>
          <p:cNvSpPr txBox="1"/>
          <p:nvPr/>
        </p:nvSpPr>
        <p:spPr>
          <a:xfrm>
            <a:off x="4572000" y="132588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query({ prompt, options: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mcpServers: { lostfound: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"node",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 ["03-mcp-server.mjs"] }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allowedTools: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"mcp__lostfound__search_items"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tools: [],      // no Bash, no 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maxTurns: 6,    // the step cap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})</a:t>
            </a:r>
            <a:endParaRPr lang="en-US" sz="1200" dirty="0"/>
          </a:p>
        </p:txBody>
      </p:sp>
      <p:sp>
        <p:nvSpPr>
          <p:cNvPr id="15" name="sdk takeaway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 still own: the system prompt, which tools exist, and the limits.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guardrails around the agent</a:t>
            </a:r>
            <a:endParaRPr lang="en-US" sz="3600" dirty="0"/>
          </a:p>
        </p:txBody>
      </p:sp>
      <p:sp>
        <p:nvSpPr>
          <p:cNvPr id="3" name="guard 1"/>
          <p:cNvSpPr/>
          <p:nvPr/>
        </p:nvSpPr>
        <p:spPr>
          <a:xfrm>
            <a:off x="457200" y="12801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guard 1 circle"/>
          <p:cNvSpPr/>
          <p:nvPr/>
        </p:nvSpPr>
        <p:spPr>
          <a:xfrm>
            <a:off x="640080" y="14173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guard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1564721"/>
            <a:ext cx="272125" cy="272125"/>
          </a:xfrm>
          <a:prstGeom prst="rect">
            <a:avLst/>
          </a:prstGeom>
        </p:spPr>
      </p:pic>
      <p:sp>
        <p:nvSpPr>
          <p:cNvPr id="6" name="guard 1 head"/>
          <p:cNvSpPr txBox="1"/>
          <p:nvPr/>
        </p:nvSpPr>
        <p:spPr>
          <a:xfrm>
            <a:off x="64008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  Input</a:t>
            </a:r>
            <a:endParaRPr lang="en-US" sz="1700" dirty="0"/>
          </a:p>
        </p:txBody>
      </p:sp>
      <p:sp>
        <p:nvSpPr>
          <p:cNvPr id="7" name="guard 1 what"/>
          <p:cNvSpPr txBox="1"/>
          <p:nvPr/>
        </p:nvSpPr>
        <p:spPr>
          <a:xfrm>
            <a:off x="64008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 length at 300 chars</a:t>
            </a:r>
            <a:endParaRPr lang="en-US" sz="1400" dirty="0"/>
          </a:p>
        </p:txBody>
      </p:sp>
      <p:sp>
        <p:nvSpPr>
          <p:cNvPr id="8" name="guard 1 fn"/>
          <p:cNvSpPr txBox="1"/>
          <p:nvPr/>
        </p:nvSpPr>
        <p:spPr>
          <a:xfrm>
            <a:off x="64008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guardInput(task)</a:t>
            </a:r>
            <a:endParaRPr lang="en-US" sz="1100" dirty="0"/>
          </a:p>
        </p:txBody>
      </p:sp>
      <p:sp>
        <p:nvSpPr>
          <p:cNvPr id="9" name="guard 1 where"/>
          <p:cNvSpPr txBox="1"/>
          <p:nvPr/>
        </p:nvSpPr>
        <p:spPr>
          <a:xfrm>
            <a:off x="64008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before the model</a:t>
            </a:r>
            <a:endParaRPr lang="en-US" sz="1300" dirty="0"/>
          </a:p>
        </p:txBody>
      </p:sp>
      <p:sp>
        <p:nvSpPr>
          <p:cNvPr id="10" name="guard 2"/>
          <p:cNvSpPr/>
          <p:nvPr/>
        </p:nvSpPr>
        <p:spPr>
          <a:xfrm>
            <a:off x="2542032" y="12801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1" name="guard 2 circle"/>
          <p:cNvSpPr/>
          <p:nvPr/>
        </p:nvSpPr>
        <p:spPr>
          <a:xfrm>
            <a:off x="2724912" y="14173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guard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313" y="1564721"/>
            <a:ext cx="272125" cy="272125"/>
          </a:xfrm>
          <a:prstGeom prst="rect">
            <a:avLst/>
          </a:prstGeom>
        </p:spPr>
      </p:pic>
      <p:sp>
        <p:nvSpPr>
          <p:cNvPr id="13" name="guard 2 head"/>
          <p:cNvSpPr txBox="1"/>
          <p:nvPr/>
        </p:nvSpPr>
        <p:spPr>
          <a:xfrm>
            <a:off x="2724912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  Tool args</a:t>
            </a:r>
            <a:endParaRPr lang="en-US" sz="1700" dirty="0"/>
          </a:p>
        </p:txBody>
      </p:sp>
      <p:sp>
        <p:nvSpPr>
          <p:cNvPr id="14" name="guard 2 what"/>
          <p:cNvSpPr txBox="1"/>
          <p:nvPr/>
        </p:nvSpPr>
        <p:spPr>
          <a:xfrm>
            <a:off x="2724912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 every call with zod</a:t>
            </a:r>
            <a:endParaRPr lang="en-US" sz="1400" dirty="0"/>
          </a:p>
        </p:txBody>
      </p:sp>
      <p:sp>
        <p:nvSpPr>
          <p:cNvPr id="15" name="guard 2 fn"/>
          <p:cNvSpPr txBox="1"/>
          <p:nvPr/>
        </p:nvSpPr>
        <p:spPr>
          <a:xfrm>
            <a:off x="2724912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schema.parse(args)</a:t>
            </a:r>
            <a:endParaRPr lang="en-US" sz="1100" dirty="0"/>
          </a:p>
        </p:txBody>
      </p:sp>
      <p:sp>
        <p:nvSpPr>
          <p:cNvPr id="16" name="guard 2 where"/>
          <p:cNvSpPr txBox="1"/>
          <p:nvPr/>
        </p:nvSpPr>
        <p:spPr>
          <a:xfrm>
            <a:off x="2724912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around each tool</a:t>
            </a:r>
            <a:endParaRPr lang="en-US" sz="1300" dirty="0"/>
          </a:p>
        </p:txBody>
      </p:sp>
      <p:sp>
        <p:nvSpPr>
          <p:cNvPr id="17" name="guard 3"/>
          <p:cNvSpPr/>
          <p:nvPr/>
        </p:nvSpPr>
        <p:spPr>
          <a:xfrm>
            <a:off x="4626864" y="12801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8" name="guard 3 circle"/>
          <p:cNvSpPr/>
          <p:nvPr/>
        </p:nvSpPr>
        <p:spPr>
          <a:xfrm>
            <a:off x="4809744" y="14173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guard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145" y="1564721"/>
            <a:ext cx="272125" cy="272125"/>
          </a:xfrm>
          <a:prstGeom prst="rect">
            <a:avLst/>
          </a:prstGeom>
        </p:spPr>
      </p:pic>
      <p:sp>
        <p:nvSpPr>
          <p:cNvPr id="20" name="guard 3 head"/>
          <p:cNvSpPr txBox="1"/>
          <p:nvPr/>
        </p:nvSpPr>
        <p:spPr>
          <a:xfrm>
            <a:off x="4809744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  Approval</a:t>
            </a:r>
            <a:endParaRPr lang="en-US" sz="1700" dirty="0"/>
          </a:p>
        </p:txBody>
      </p:sp>
      <p:sp>
        <p:nvSpPr>
          <p:cNvPr id="21" name="guard 3 what"/>
          <p:cNvSpPr txBox="1"/>
          <p:nvPr/>
        </p:nvSpPr>
        <p:spPr>
          <a:xfrm>
            <a:off x="4809744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Human says y/n before a write</a:t>
            </a:r>
            <a:endParaRPr lang="en-US" sz="1400" dirty="0"/>
          </a:p>
        </p:txBody>
      </p:sp>
      <p:sp>
        <p:nvSpPr>
          <p:cNvPr id="22" name="guard 3 fn"/>
          <p:cNvSpPr txBox="1"/>
          <p:nvPr/>
        </p:nvSpPr>
        <p:spPr>
          <a:xfrm>
            <a:off x="4809744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confirm(...)</a:t>
            </a:r>
            <a:endParaRPr lang="en-US" sz="1100" dirty="0"/>
          </a:p>
        </p:txBody>
      </p:sp>
      <p:sp>
        <p:nvSpPr>
          <p:cNvPr id="23" name="guard 3 where"/>
          <p:cNvSpPr txBox="1"/>
          <p:nvPr/>
        </p:nvSpPr>
        <p:spPr>
          <a:xfrm>
            <a:off x="4809744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before add_item</a:t>
            </a:r>
            <a:endParaRPr lang="en-US" sz="1300" dirty="0"/>
          </a:p>
        </p:txBody>
      </p:sp>
      <p:sp>
        <p:nvSpPr>
          <p:cNvPr id="24" name="guard 4"/>
          <p:cNvSpPr/>
          <p:nvPr/>
        </p:nvSpPr>
        <p:spPr>
          <a:xfrm>
            <a:off x="6711696" y="12801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5" name="guard 4 circle"/>
          <p:cNvSpPr/>
          <p:nvPr/>
        </p:nvSpPr>
        <p:spPr>
          <a:xfrm>
            <a:off x="6894576" y="14173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guard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977" y="1564721"/>
            <a:ext cx="272125" cy="272125"/>
          </a:xfrm>
          <a:prstGeom prst="rect">
            <a:avLst/>
          </a:prstGeom>
        </p:spPr>
      </p:pic>
      <p:sp>
        <p:nvSpPr>
          <p:cNvPr id="27" name="guard 4 head"/>
          <p:cNvSpPr txBox="1"/>
          <p:nvPr/>
        </p:nvSpPr>
        <p:spPr>
          <a:xfrm>
            <a:off x="6894576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  Output</a:t>
            </a:r>
            <a:endParaRPr lang="en-US" sz="1700" dirty="0"/>
          </a:p>
        </p:txBody>
      </p:sp>
      <p:sp>
        <p:nvSpPr>
          <p:cNvPr id="28" name="guard 4 what"/>
          <p:cNvSpPr txBox="1"/>
          <p:nvPr/>
        </p:nvSpPr>
        <p:spPr>
          <a:xfrm>
            <a:off x="6894576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Hide phone numbers</a:t>
            </a:r>
            <a:endParaRPr lang="en-US" sz="1400" dirty="0"/>
          </a:p>
        </p:txBody>
      </p:sp>
      <p:sp>
        <p:nvSpPr>
          <p:cNvPr id="29" name="guard 4 fn"/>
          <p:cNvSpPr txBox="1"/>
          <p:nvPr/>
        </p:nvSpPr>
        <p:spPr>
          <a:xfrm>
            <a:off x="6894576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redactPhones(text)</a:t>
            </a:r>
            <a:endParaRPr lang="en-US" sz="1100" dirty="0"/>
          </a:p>
        </p:txBody>
      </p:sp>
      <p:sp>
        <p:nvSpPr>
          <p:cNvPr id="30" name="guard 4 where"/>
          <p:cNvSpPr txBox="1"/>
          <p:nvPr/>
        </p:nvSpPr>
        <p:spPr>
          <a:xfrm>
            <a:off x="6894576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after the model</a:t>
            </a:r>
            <a:endParaRPr lang="en-US" sz="1300" dirty="0"/>
          </a:p>
        </p:txBody>
      </p:sp>
      <p:sp>
        <p:nvSpPr>
          <p:cNvPr id="31" name="guard takeaway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Guardrails are code, not prompts. A prompt can be argued with.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Approval before any write</a:t>
            </a:r>
            <a:endParaRPr lang="en-US" sz="3600" dirty="0"/>
          </a:p>
        </p:txBody>
      </p:sp>
      <p:sp>
        <p:nvSpPr>
          <p:cNvPr id="3" name="guard code"/>
          <p:cNvSpPr/>
          <p:nvPr/>
        </p:nvSpPr>
        <p:spPr>
          <a:xfrm>
            <a:off x="457200" y="1188720"/>
            <a:ext cx="5120640" cy="1920240"/>
          </a:xfrm>
          <a:prstGeom prst="roundRect">
            <a:avLst>
              <a:gd name="adj" fmla="val 3810"/>
            </a:avLst>
          </a:prstGeom>
          <a:solidFill>
            <a:schemeClr val="tx1"/>
          </a:solidFill>
          <a:ln/>
        </p:spPr>
      </p:sp>
      <p:sp>
        <p:nvSpPr>
          <p:cNvPr id="4" name="guard code text"/>
          <p:cNvSpPr txBox="1"/>
          <p:nvPr/>
        </p:nvSpPr>
        <p:spPr>
          <a:xfrm>
            <a:off x="640080" y="13258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 = await runAgent(task,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beforeTool: async (call)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(call.name === "add_item" &amp;&amp;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!(await confirm("Allow this write?")))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"Human denied this write.";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redactPhones(r.text);</a:t>
            </a:r>
            <a:endParaRPr lang="en-US" sz="1200" dirty="0"/>
          </a:p>
        </p:txBody>
      </p:sp>
      <p:sp>
        <p:nvSpPr>
          <p:cNvPr id="5" name="step 1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guard note 1"/>
          <p:cNvSpPr txBox="1"/>
          <p:nvPr/>
        </p:nvSpPr>
        <p:spPr>
          <a:xfrm>
            <a:off x="630936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Denied tools return an error the model can read and recover from.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5852160" y="19202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guard note 2"/>
          <p:cNvSpPr txBox="1"/>
          <p:nvPr/>
        </p:nvSpPr>
        <p:spPr>
          <a:xfrm>
            <a:off x="630936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terminal attached? The default is deny.</a:t>
            </a:r>
            <a:endParaRPr lang="en-US" sz="1300" dirty="0"/>
          </a:p>
        </p:txBody>
      </p:sp>
      <p:sp>
        <p:nvSpPr>
          <p:cNvPr id="11" name="step 3"/>
          <p:cNvSpPr/>
          <p:nvPr/>
        </p:nvSpPr>
        <p:spPr>
          <a:xfrm>
            <a:off x="5852160" y="25603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guard note 3"/>
          <p:cNvSpPr txBox="1"/>
          <p:nvPr/>
        </p:nvSpPr>
        <p:spPr>
          <a:xfrm>
            <a:off x="630936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Phone numbers never reach the student, even if the data has them.</a:t>
            </a:r>
            <a:endParaRPr lang="en-US" sz="1300" dirty="0"/>
          </a:p>
        </p:txBody>
      </p:sp>
      <p:sp>
        <p:nvSpPr>
          <p:cNvPr id="14" name="guard cases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Three test inputs: a normal lookup, a write request, a 400-character blob.</a:t>
            </a:r>
            <a:endParaRPr lang="en-US" sz="1500" dirty="0"/>
          </a:p>
        </p:txBody>
      </p:sp>
      <p:sp>
        <p:nvSpPr>
          <p:cNvPr id="15" name="demo strip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6" name="demo tag"/>
          <p:cNvSpPr/>
          <p:nvPr/>
        </p:nvSpPr>
        <p:spPr>
          <a:xfrm>
            <a:off x="566928" y="4197096"/>
            <a:ext cx="105156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1970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LIVE DEMO</a:t>
            </a:r>
            <a:endParaRPr lang="en-US" sz="1100" dirty="0"/>
          </a:p>
        </p:txBody>
      </p:sp>
      <p:sp>
        <p:nvSpPr>
          <p:cNvPr id="18" name="demo command"/>
          <p:cNvSpPr txBox="1"/>
          <p:nvPr/>
        </p:nvSpPr>
        <p:spPr>
          <a:xfrm>
            <a:off x="1783080" y="4114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demos/06-guardrails.mjs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70% rule</a:t>
            </a:r>
            <a:endParaRPr lang="en-US" sz="3600" dirty="0"/>
          </a:p>
        </p:txBody>
      </p:sp>
      <p:sp>
        <p:nvSpPr>
          <p:cNvPr id="3" name="bar agent"/>
          <p:cNvSpPr/>
          <p:nvPr/>
        </p:nvSpPr>
        <p:spPr>
          <a:xfrm>
            <a:off x="457200" y="1280160"/>
            <a:ext cx="57607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70%  agent: fast</a:t>
            </a:r>
            <a:endParaRPr lang="en-US" sz="2200" dirty="0"/>
          </a:p>
        </p:txBody>
      </p:sp>
      <p:sp>
        <p:nvSpPr>
          <p:cNvPr id="5" name="bar human"/>
          <p:cNvSpPr/>
          <p:nvPr/>
        </p:nvSpPr>
        <p:spPr>
          <a:xfrm>
            <a:off x="6217920" y="1280160"/>
            <a:ext cx="246888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0" y="1280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30%  you</a:t>
            </a:r>
            <a:endParaRPr lang="en-US" sz="2200" dirty="0"/>
          </a:p>
        </p:txBody>
      </p:sp>
      <p:sp>
        <p:nvSpPr>
          <p:cNvPr id="7" name="agent does"/>
          <p:cNvSpPr/>
          <p:nvPr/>
        </p:nvSpPr>
        <p:spPr>
          <a:xfrm>
            <a:off x="457200" y="228600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8" name="agent does text"/>
          <p:cNvSpPr txBox="1"/>
          <p:nvPr/>
        </p:nvSpPr>
        <p:spPr>
          <a:xfrm>
            <a:off x="640080" y="2423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Agents do this fast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Scaffolding and boilerplate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Happy-path features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Standard patterns and wiring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first draft of tests</a:t>
            </a:r>
            <a:endParaRPr lang="en-US" sz="1500" dirty="0"/>
          </a:p>
        </p:txBody>
      </p:sp>
      <p:sp>
        <p:nvSpPr>
          <p:cNvPr id="9" name="last thirty"/>
          <p:cNvSpPr/>
          <p:nvPr/>
        </p:nvSpPr>
        <p:spPr>
          <a:xfrm>
            <a:off x="4663440" y="228600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last thirty text"/>
          <p:cNvSpPr txBox="1"/>
          <p:nvPr/>
        </p:nvSpPr>
        <p:spPr>
          <a:xfrm>
            <a:off x="4846320" y="2423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The last 30% needs an engineer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Edge cases and failure paths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Security and data privacy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Fit with the real system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Is this the right thing to build?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a human must own</a:t>
            </a:r>
            <a:endParaRPr lang="en-US" sz="3600" dirty="0"/>
          </a:p>
        </p:txBody>
      </p:sp>
      <p:sp>
        <p:nvSpPr>
          <p:cNvPr id="3" name="own Design"/>
          <p:cNvSpPr/>
          <p:nvPr/>
        </p:nvSpPr>
        <p:spPr>
          <a:xfrm>
            <a:off x="457200" y="128016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own Design circle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own Desig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6" name="own Design head"/>
          <p:cNvSpPr txBox="1"/>
          <p:nvPr/>
        </p:nvSpPr>
        <p:spPr>
          <a:xfrm>
            <a:off x="6858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Design</a:t>
            </a:r>
            <a:endParaRPr lang="en-US" sz="2400" dirty="0"/>
          </a:p>
        </p:txBody>
      </p:sp>
      <p:sp>
        <p:nvSpPr>
          <p:cNvPr id="7" name="own Design example"/>
          <p:cNvSpPr txBox="1"/>
          <p:nvPr/>
        </p:nvSpPr>
        <p:spPr>
          <a:xfrm>
            <a:off x="68580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Should add_item be reachable over MCP at all?</a:t>
            </a:r>
            <a:endParaRPr lang="en-US" sz="1500" dirty="0"/>
          </a:p>
        </p:txBody>
      </p:sp>
      <p:sp>
        <p:nvSpPr>
          <p:cNvPr id="8" name="own Tests"/>
          <p:cNvSpPr/>
          <p:nvPr/>
        </p:nvSpPr>
        <p:spPr>
          <a:xfrm>
            <a:off x="3291840" y="128016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9" name="own Tests circle"/>
          <p:cNvSpPr/>
          <p:nvPr/>
        </p:nvSpPr>
        <p:spPr>
          <a:xfrm>
            <a:off x="3520440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own Tes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629461"/>
            <a:ext cx="307238" cy="307238"/>
          </a:xfrm>
          <a:prstGeom prst="rect">
            <a:avLst/>
          </a:prstGeom>
        </p:spPr>
      </p:pic>
      <p:sp>
        <p:nvSpPr>
          <p:cNvPr id="11" name="own Tests head"/>
          <p:cNvSpPr txBox="1"/>
          <p:nvPr/>
        </p:nvSpPr>
        <p:spPr>
          <a:xfrm>
            <a:off x="35204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Tests</a:t>
            </a:r>
            <a:endParaRPr lang="en-US" sz="2400" dirty="0"/>
          </a:p>
        </p:txBody>
      </p:sp>
      <p:sp>
        <p:nvSpPr>
          <p:cNvPr id="12" name="own Tests example"/>
          <p:cNvSpPr txBox="1"/>
          <p:nvPr/>
        </p:nvSpPr>
        <p:spPr>
          <a:xfrm>
            <a:off x="352044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Does "not in the notes" really fire when search finds nothing?</a:t>
            </a:r>
            <a:endParaRPr lang="en-US" sz="1500" dirty="0"/>
          </a:p>
        </p:txBody>
      </p:sp>
      <p:sp>
        <p:nvSpPr>
          <p:cNvPr id="13" name="own Decisions"/>
          <p:cNvSpPr/>
          <p:nvPr/>
        </p:nvSpPr>
        <p:spPr>
          <a:xfrm>
            <a:off x="6126480" y="128016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4" name="own Decisions circle"/>
          <p:cNvSpPr/>
          <p:nvPr/>
        </p:nvSpPr>
        <p:spPr>
          <a:xfrm>
            <a:off x="6355080" y="1463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own Decisio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629461"/>
            <a:ext cx="307238" cy="307238"/>
          </a:xfrm>
          <a:prstGeom prst="rect">
            <a:avLst/>
          </a:prstGeom>
        </p:spPr>
      </p:pic>
      <p:sp>
        <p:nvSpPr>
          <p:cNvPr id="16" name="own Decisions head"/>
          <p:cNvSpPr txBox="1"/>
          <p:nvPr/>
        </p:nvSpPr>
        <p:spPr>
          <a:xfrm>
            <a:off x="635508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Decisions</a:t>
            </a:r>
            <a:endParaRPr lang="en-US" sz="2400" dirty="0"/>
          </a:p>
        </p:txBody>
      </p:sp>
      <p:sp>
        <p:nvSpPr>
          <p:cNvPr id="17" name="own Decisions example"/>
          <p:cNvSpPr txBox="1"/>
          <p:nvPr/>
        </p:nvSpPr>
        <p:spPr>
          <a:xfrm>
            <a:off x="635508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Who may see a student's phone number?</a:t>
            </a:r>
            <a:endParaRPr lang="en-US" sz="1500" dirty="0"/>
          </a:p>
        </p:txBody>
      </p:sp>
      <p:sp>
        <p:nvSpPr>
          <p:cNvPr id="18" name="own takeaway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example is from today's agent. Your hands-on Step 4 finds more.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Six upgrades, one agent</a:t>
            </a:r>
            <a:endParaRPr lang="en-US" sz="4000" dirty="0"/>
          </a:p>
        </p:txBody>
      </p:sp>
      <p:sp>
        <p:nvSpPr>
          <p:cNvPr id="3" name="step 1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recap 1"/>
          <p:cNvSpPr txBox="1"/>
          <p:nvPr/>
        </p:nvSpPr>
        <p:spPr>
          <a:xfrm>
            <a:off x="1188720" y="1645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loop that calls tools, with a step cap</a:t>
            </a:r>
            <a:endParaRPr lang="en-US" sz="1600" dirty="0"/>
          </a:p>
        </p:txBody>
      </p:sp>
      <p:sp>
        <p:nvSpPr>
          <p:cNvPr id="6" name="step 2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recap 2"/>
          <p:cNvSpPr txBox="1"/>
          <p:nvPr/>
        </p:nvSpPr>
        <p:spPr>
          <a:xfrm>
            <a:off x="5212080" y="1645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Patterns: ReAct, plan first, reflection</a:t>
            </a:r>
            <a:endParaRPr lang="en-US" sz="1600" dirty="0"/>
          </a:p>
        </p:txBody>
      </p:sp>
      <p:sp>
        <p:nvSpPr>
          <p:cNvPr id="9" name="step 3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recap 3"/>
          <p:cNvSpPr txBox="1"/>
          <p:nvPr/>
        </p:nvSpPr>
        <p:spPr>
          <a:xfrm>
            <a:off x="1188720" y="2514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MCP: one plug, tools reused everywhere</a:t>
            </a:r>
            <a:endParaRPr lang="en-US" sz="1600" dirty="0"/>
          </a:p>
        </p:txBody>
      </p:sp>
      <p:sp>
        <p:nvSpPr>
          <p:cNvPr id="12" name="step 4"/>
          <p:cNvSpPr/>
          <p:nvPr/>
        </p:nvSpPr>
        <p:spPr>
          <a:xfrm>
            <a:off x="4663440" y="2606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recap 4"/>
          <p:cNvSpPr txBox="1"/>
          <p:nvPr/>
        </p:nvSpPr>
        <p:spPr>
          <a:xfrm>
            <a:off x="5212080" y="2514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RAG: cited answers, or "not in the notes"</a:t>
            </a:r>
            <a:endParaRPr lang="en-US" sz="1600" dirty="0"/>
          </a:p>
        </p:txBody>
      </p:sp>
      <p:sp>
        <p:nvSpPr>
          <p:cNvPr id="15" name="step 5"/>
          <p:cNvSpPr/>
          <p:nvPr/>
        </p:nvSpPr>
        <p:spPr>
          <a:xfrm>
            <a:off x="640080" y="3474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recap 5"/>
          <p:cNvSpPr txBox="1"/>
          <p:nvPr/>
        </p:nvSpPr>
        <p:spPr>
          <a:xfrm>
            <a:off x="1188720" y="3383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Agent SDK: the loop is no longer yours</a:t>
            </a:r>
            <a:endParaRPr lang="en-US" sz="1600" dirty="0"/>
          </a:p>
        </p:txBody>
      </p:sp>
      <p:sp>
        <p:nvSpPr>
          <p:cNvPr id="18" name="step 6"/>
          <p:cNvSpPr/>
          <p:nvPr/>
        </p:nvSpPr>
        <p:spPr>
          <a:xfrm>
            <a:off x="4663440" y="3474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recap 6"/>
          <p:cNvSpPr txBox="1"/>
          <p:nvPr/>
        </p:nvSpPr>
        <p:spPr>
          <a:xfrm>
            <a:off x="5212080" y="3383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Guardrails in code, and a human on every write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Your turn: build it</a:t>
            </a:r>
            <a:endParaRPr lang="en-US" sz="4000" dirty="0"/>
          </a:p>
        </p:txBody>
      </p:sp>
      <p:sp>
        <p:nvSpPr>
          <p:cNvPr id="3" name="task intro"/>
          <p:cNvSpPr txBox="1"/>
          <p:nvPr/>
        </p:nvSpPr>
        <p:spPr>
          <a:xfrm>
            <a:off x="64008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7 steps. Each has a "Done when" check. Do not move on until it passes.</a:t>
            </a:r>
            <a:endParaRPr lang="en-US" sz="2000" dirty="0"/>
          </a:p>
        </p:txBody>
      </p:sp>
      <p:sp>
        <p:nvSpPr>
          <p:cNvPr id="4" name="task hint"/>
          <p:cNvSpPr txBox="1"/>
          <p:nvPr/>
        </p:nvSpPr>
        <p:spPr>
          <a:xfrm>
            <a:off x="64008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Short on time? Skip Step 4 and Step 6 first.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Full handout: handout/student-task.md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Setup (5 min)</a:t>
            </a:r>
            <a:endParaRPr lang="en-US" sz="3600" dirty="0"/>
          </a:p>
        </p:txBody>
      </p:sp>
      <p:sp>
        <p:nvSpPr>
          <p:cNvPr id="3" name="setup code"/>
          <p:cNvSpPr/>
          <p:nvPr/>
        </p:nvSpPr>
        <p:spPr>
          <a:xfrm>
            <a:off x="457200" y="1188720"/>
            <a:ext cx="5120640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/>
        </p:spPr>
      </p:sp>
      <p:sp>
        <p:nvSpPr>
          <p:cNvPr id="4" name="setup code text"/>
          <p:cNvSpPr txBox="1"/>
          <p:nvPr/>
        </p:nvSpPr>
        <p:spPr>
          <a:xfrm>
            <a:off x="640080" y="13258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starter lost-and-found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lost-and-found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 &amp;&amp; npm pkg set type=module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@anthropic-ai/sdk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@anthropic-ai/claude-agent-sdk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@modelcontextprotocol/sdk minisearch zod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ANTHROPIC_API_KEY=&lt;from instructor&gt;</a:t>
            </a:r>
            <a:endParaRPr lang="en-US" sz="1200" dirty="0"/>
          </a:p>
        </p:txBody>
      </p:sp>
      <p:sp>
        <p:nvSpPr>
          <p:cNvPr id="5" name="step 1"/>
          <p:cNvSpPr/>
          <p:nvPr/>
        </p:nvSpPr>
        <p:spPr>
          <a:xfrm>
            <a:off x="5852160" y="12801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etup note 1"/>
          <p:cNvSpPr txBox="1"/>
          <p:nvPr/>
        </p:nvSpPr>
        <p:spPr>
          <a:xfrm>
            <a:off x="6355080" y="1188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for every step: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claude-haiku-5-5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5852160" y="21488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etup note 2"/>
          <p:cNvSpPr txBox="1"/>
          <p:nvPr/>
        </p:nvSpPr>
        <p:spPr>
          <a:xfrm>
            <a:off x="63550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key is for this workshop only. Never put it in code, a commit or a chat.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5852160" y="3017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etup note 3"/>
          <p:cNvSpPr txBox="1"/>
          <p:nvPr/>
        </p:nvSpPr>
        <p:spPr>
          <a:xfrm>
            <a:off x="635508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Data: data/items.json. Notes: notes/*.md</a:t>
            </a:r>
            <a:endParaRPr lang="en-US" sz="1400" dirty="0"/>
          </a:p>
        </p:txBody>
      </p:sp>
      <p:sp>
        <p:nvSpPr>
          <p:cNvPr id="14" name="setup check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Check: node --version prints v20 or higher.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Step 1: Basic agent (20 min)</a:t>
            </a:r>
            <a:endParaRPr lang="en-US" sz="3600" dirty="0"/>
          </a:p>
        </p:txBody>
      </p:sp>
      <p:sp>
        <p:nvSpPr>
          <p:cNvPr id="3" name="do card"/>
          <p:cNvSpPr/>
          <p:nvPr/>
        </p:nvSpPr>
        <p:spPr>
          <a:xfrm>
            <a:off x="457200" y="1188720"/>
            <a:ext cx="521208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4" name="do label"/>
          <p:cNvSpPr txBox="1"/>
          <p:nvPr/>
        </p:nvSpPr>
        <p:spPr>
          <a:xfrm>
            <a:off x="6858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DO THIS</a:t>
            </a:r>
            <a:endParaRPr lang="en-US" sz="1200" dirty="0"/>
          </a:p>
        </p:txBody>
      </p:sp>
      <p:sp>
        <p:nvSpPr>
          <p:cNvPr id="5" name="step 1"/>
          <p:cNvSpPr/>
          <p:nvPr/>
        </p:nvSpPr>
        <p:spPr>
          <a:xfrm>
            <a:off x="685800" y="17373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do item 1"/>
          <p:cNvSpPr txBox="1"/>
          <p:nvPr/>
        </p:nvSpPr>
        <p:spPr>
          <a:xfrm>
            <a:off x="1188720" y="1691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3 tools over data/items.json: search_items, get_item, add_item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685800" y="22860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do item 2"/>
          <p:cNvSpPr txBox="1"/>
          <p:nvPr/>
        </p:nvSpPr>
        <p:spPr>
          <a:xfrm>
            <a:off x="118872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Describe each tool to the model: name, description, input schema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85800" y="28346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do item 3"/>
          <p:cNvSpPr txBox="1"/>
          <p:nvPr/>
        </p:nvSpPr>
        <p:spPr>
          <a:xfrm>
            <a:off x="1188720" y="2788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Loop: call the model, run the tool it asks for, send the result back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685800" y="338328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do item 4"/>
          <p:cNvSpPr txBox="1"/>
          <p:nvPr/>
        </p:nvSpPr>
        <p:spPr>
          <a:xfrm>
            <a:off x="1188720" y="3337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 at 6 steps. Print one line per step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685800" y="39319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do item 5"/>
          <p:cNvSpPr txBox="1"/>
          <p:nvPr/>
        </p:nvSpPr>
        <p:spPr>
          <a:xfrm>
            <a:off x="1188720" y="3886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System prompt: answer only from tool results</a:t>
            </a:r>
            <a:endParaRPr lang="en-US" sz="1400" dirty="0"/>
          </a:p>
        </p:txBody>
      </p:sp>
      <p:sp>
        <p:nvSpPr>
          <p:cNvPr id="20" name="done card"/>
          <p:cNvSpPr/>
          <p:nvPr/>
        </p:nvSpPr>
        <p:spPr>
          <a:xfrm>
            <a:off x="5852160" y="1188720"/>
            <a:ext cx="2834640" cy="333756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/>
        </p:spPr>
      </p:sp>
      <p:pic>
        <p:nvPicPr>
          <p:cNvPr id="21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365760" cy="365760"/>
          </a:xfrm>
          <a:prstGeom prst="rect">
            <a:avLst/>
          </a:prstGeom>
        </p:spPr>
      </p:pic>
      <p:sp>
        <p:nvSpPr>
          <p:cNvPr id="22" name="done label"/>
          <p:cNvSpPr txBox="1"/>
          <p:nvPr/>
        </p:nvSpPr>
        <p:spPr>
          <a:xfrm>
            <a:off x="65836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DONE WHEN</a:t>
            </a:r>
            <a:endParaRPr lang="en-US" sz="1300" dirty="0"/>
          </a:p>
        </p:txBody>
      </p:sp>
      <p:sp>
        <p:nvSpPr>
          <p:cNvPr id="23" name="done text"/>
          <p:cNvSpPr txBox="1"/>
          <p:nvPr/>
        </p:nvSpPr>
        <p:spPr>
          <a:xfrm>
            <a:off x="6080760" y="192024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agent.mjs "Are there any lost calculators?"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makes 1 to 2 tool calls and names both calculators: the found one in Lab 3, and the lost one reported from Exam hall 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Step 2: Compare patterns (20 min)</a:t>
            </a:r>
            <a:endParaRPr lang="en-US" sz="3600" dirty="0"/>
          </a:p>
        </p:txBody>
      </p:sp>
      <p:sp>
        <p:nvSpPr>
          <p:cNvPr id="3" name="do card"/>
          <p:cNvSpPr/>
          <p:nvPr/>
        </p:nvSpPr>
        <p:spPr>
          <a:xfrm>
            <a:off x="457200" y="1188720"/>
            <a:ext cx="521208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4" name="do label"/>
          <p:cNvSpPr txBox="1"/>
          <p:nvPr/>
        </p:nvSpPr>
        <p:spPr>
          <a:xfrm>
            <a:off x="6858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DO THIS</a:t>
            </a:r>
            <a:endParaRPr lang="en-US" sz="1200" dirty="0"/>
          </a:p>
        </p:txBody>
      </p:sp>
      <p:sp>
        <p:nvSpPr>
          <p:cNvPr id="5" name="step 1"/>
          <p:cNvSpPr/>
          <p:nvPr/>
        </p:nvSpPr>
        <p:spPr>
          <a:xfrm>
            <a:off x="685800" y="17373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do item 1"/>
          <p:cNvSpPr txBox="1"/>
          <p:nvPr/>
        </p:nvSpPr>
        <p:spPr>
          <a:xfrm>
            <a:off x="1188720" y="1691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T1: a FOUND calculator, where? T2: lost Arduino kit, where to collect? T3: found items in the library, which floor?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685800" y="22860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do item 2"/>
          <p:cNvSpPr txBox="1"/>
          <p:nvPr/>
        </p:nvSpPr>
        <p:spPr>
          <a:xfrm>
            <a:off x="118872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each task as ReAct, as plan-first, and with a reflection pass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85800" y="28346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do item 3"/>
          <p:cNvSpPr txBox="1"/>
          <p:nvPr/>
        </p:nvSpPr>
        <p:spPr>
          <a:xfrm>
            <a:off x="1188720" y="2788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Plan-first: one extra call writes a numbered plan, then the loop follows it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685800" y="338328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do item 4"/>
          <p:cNvSpPr txBox="1"/>
          <p:nvPr/>
        </p:nvSpPr>
        <p:spPr>
          <a:xfrm>
            <a:off x="1188720" y="3337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Reflection: score the answer 1-10, rewrite once if below 8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685800" y="39319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do item 5"/>
          <p:cNvSpPr txBox="1"/>
          <p:nvPr/>
        </p:nvSpPr>
        <p:spPr>
          <a:xfrm>
            <a:off x="1188720" y="3886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 steps, tokens (input + output, all calls) and correct yes/no</a:t>
            </a:r>
            <a:endParaRPr lang="en-US" sz="1400" dirty="0"/>
          </a:p>
        </p:txBody>
      </p:sp>
      <p:sp>
        <p:nvSpPr>
          <p:cNvPr id="20" name="done card"/>
          <p:cNvSpPr/>
          <p:nvPr/>
        </p:nvSpPr>
        <p:spPr>
          <a:xfrm>
            <a:off x="5852160" y="1188720"/>
            <a:ext cx="2834640" cy="333756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/>
        </p:spPr>
      </p:sp>
      <p:pic>
        <p:nvPicPr>
          <p:cNvPr id="21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365760" cy="365760"/>
          </a:xfrm>
          <a:prstGeom prst="rect">
            <a:avLst/>
          </a:prstGeom>
        </p:spPr>
      </p:pic>
      <p:sp>
        <p:nvSpPr>
          <p:cNvPr id="22" name="done label"/>
          <p:cNvSpPr txBox="1"/>
          <p:nvPr/>
        </p:nvSpPr>
        <p:spPr>
          <a:xfrm>
            <a:off x="65836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DONE WHEN</a:t>
            </a:r>
            <a:endParaRPr lang="en-US" sz="1300" dirty="0"/>
          </a:p>
        </p:txBody>
      </p:sp>
      <p:sp>
        <p:nvSpPr>
          <p:cNvPr id="23" name="done text"/>
          <p:cNvSpPr txBox="1"/>
          <p:nvPr/>
        </p:nvSpPr>
        <p:spPr>
          <a:xfrm>
            <a:off x="6080760" y="192024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You have a 3x3 table of results and one sentence: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"Use ___ when ___."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Step 3: Expose it over MCP (15 min)</a:t>
            </a:r>
            <a:endParaRPr lang="en-US" sz="3600" dirty="0"/>
          </a:p>
        </p:txBody>
      </p:sp>
      <p:sp>
        <p:nvSpPr>
          <p:cNvPr id="3" name="do card"/>
          <p:cNvSpPr/>
          <p:nvPr/>
        </p:nvSpPr>
        <p:spPr>
          <a:xfrm>
            <a:off x="457200" y="1188720"/>
            <a:ext cx="521208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4" name="do label"/>
          <p:cNvSpPr txBox="1"/>
          <p:nvPr/>
        </p:nvSpPr>
        <p:spPr>
          <a:xfrm>
            <a:off x="6858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DO THIS</a:t>
            </a:r>
            <a:endParaRPr lang="en-US" sz="1200" dirty="0"/>
          </a:p>
        </p:txBody>
      </p:sp>
      <p:sp>
        <p:nvSpPr>
          <p:cNvPr id="5" name="step 1"/>
          <p:cNvSpPr/>
          <p:nvPr/>
        </p:nvSpPr>
        <p:spPr>
          <a:xfrm>
            <a:off x="685800" y="17373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do item 1"/>
          <p:cNvSpPr txBox="1"/>
          <p:nvPr/>
        </p:nvSpPr>
        <p:spPr>
          <a:xfrm>
            <a:off x="1188720" y="1691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mcp-server.mjs with McpServer and StdioServerTransport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685800" y="24231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do item 2"/>
          <p:cNvSpPr txBox="1"/>
          <p:nvPr/>
        </p:nvSpPr>
        <p:spPr>
          <a:xfrm>
            <a:off x="1188720" y="2377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Register search_items and get_item. Do NOT register add_item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85800" y="31089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do item 3"/>
          <p:cNvSpPr txBox="1"/>
          <p:nvPr/>
        </p:nvSpPr>
        <p:spPr>
          <a:xfrm>
            <a:off x="118872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mcp add lostfound -- node /full/path/mcp-server.mjs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685800" y="3794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do item 4"/>
          <p:cNvSpPr txBox="1"/>
          <p:nvPr/>
        </p:nvSpPr>
        <p:spPr>
          <a:xfrm>
            <a:off x="118872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Claude Code: "any lost calculators?"</a:t>
            </a:r>
            <a:endParaRPr lang="en-US" sz="1400" dirty="0"/>
          </a:p>
        </p:txBody>
      </p:sp>
      <p:sp>
        <p:nvSpPr>
          <p:cNvPr id="17" name="done card"/>
          <p:cNvSpPr/>
          <p:nvPr/>
        </p:nvSpPr>
        <p:spPr>
          <a:xfrm>
            <a:off x="5852160" y="1188720"/>
            <a:ext cx="2834640" cy="333756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/>
        </p:spPr>
      </p:sp>
      <p:pic>
        <p:nvPicPr>
          <p:cNvPr id="18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365760" cy="365760"/>
          </a:xfrm>
          <a:prstGeom prst="rect">
            <a:avLst/>
          </a:prstGeom>
        </p:spPr>
      </p:pic>
      <p:sp>
        <p:nvSpPr>
          <p:cNvPr id="19" name="done label"/>
          <p:cNvSpPr txBox="1"/>
          <p:nvPr/>
        </p:nvSpPr>
        <p:spPr>
          <a:xfrm>
            <a:off x="65836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DONE WHEN</a:t>
            </a:r>
            <a:endParaRPr lang="en-US" sz="1300" dirty="0"/>
          </a:p>
        </p:txBody>
      </p:sp>
      <p:sp>
        <p:nvSpPr>
          <p:cNvPr id="20" name="done text"/>
          <p:cNvSpPr txBox="1"/>
          <p:nvPr/>
        </p:nvSpPr>
        <p:spPr>
          <a:xfrm>
            <a:off x="6080760" y="192024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Claude Code shows a call to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mcp__lostfound__search_items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and answers from your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Step 4: The 70% rule (10 min)</a:t>
            </a:r>
            <a:endParaRPr lang="en-US" sz="3600" dirty="0"/>
          </a:p>
        </p:txBody>
      </p:sp>
      <p:sp>
        <p:nvSpPr>
          <p:cNvPr id="3" name="do card"/>
          <p:cNvSpPr/>
          <p:nvPr/>
        </p:nvSpPr>
        <p:spPr>
          <a:xfrm>
            <a:off x="457200" y="1188720"/>
            <a:ext cx="521208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4" name="do label"/>
          <p:cNvSpPr txBox="1"/>
          <p:nvPr/>
        </p:nvSpPr>
        <p:spPr>
          <a:xfrm>
            <a:off x="6858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DO THIS</a:t>
            </a:r>
            <a:endParaRPr lang="en-US" sz="1200" dirty="0"/>
          </a:p>
        </p:txBody>
      </p:sp>
      <p:sp>
        <p:nvSpPr>
          <p:cNvPr id="5" name="step 1"/>
          <p:cNvSpPr/>
          <p:nvPr/>
        </p:nvSpPr>
        <p:spPr>
          <a:xfrm>
            <a:off x="685800" y="17373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do item 1"/>
          <p:cNvSpPr txBox="1"/>
          <p:nvPr/>
        </p:nvSpPr>
        <p:spPr>
          <a:xfrm>
            <a:off x="1188720" y="1691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your Session 2 autonomous output (or your Step 1 agent)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685800" y="24231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do item 2"/>
          <p:cNvSpPr txBox="1"/>
          <p:nvPr/>
        </p:nvSpPr>
        <p:spPr>
          <a:xfrm>
            <a:off x="1188720" y="2377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what is missing or weak: tests, errors, edge cases, design, security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85800" y="31089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do item 3"/>
          <p:cNvSpPr txBox="1"/>
          <p:nvPr/>
        </p:nvSpPr>
        <p:spPr>
          <a:xfrm>
            <a:off x="118872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 each item: Agent can do, or Human must own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685800" y="3794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do item 4"/>
          <p:cNvSpPr txBox="1"/>
          <p:nvPr/>
        </p:nvSpPr>
        <p:spPr>
          <a:xfrm>
            <a:off x="118872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one human-owned item that hurts most if wrong. One line on why</a:t>
            </a:r>
            <a:endParaRPr lang="en-US" sz="1400" dirty="0"/>
          </a:p>
        </p:txBody>
      </p:sp>
      <p:sp>
        <p:nvSpPr>
          <p:cNvPr id="17" name="done card"/>
          <p:cNvSpPr/>
          <p:nvPr/>
        </p:nvSpPr>
        <p:spPr>
          <a:xfrm>
            <a:off x="5852160" y="1188720"/>
            <a:ext cx="2834640" cy="333756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/>
        </p:spPr>
      </p:sp>
      <p:pic>
        <p:nvPicPr>
          <p:cNvPr id="18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365760" cy="365760"/>
          </a:xfrm>
          <a:prstGeom prst="rect">
            <a:avLst/>
          </a:prstGeom>
        </p:spPr>
      </p:pic>
      <p:sp>
        <p:nvSpPr>
          <p:cNvPr id="19" name="done label"/>
          <p:cNvSpPr txBox="1"/>
          <p:nvPr/>
        </p:nvSpPr>
        <p:spPr>
          <a:xfrm>
            <a:off x="65836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DONE WHEN</a:t>
            </a:r>
            <a:endParaRPr lang="en-US" sz="1300" dirty="0"/>
          </a:p>
        </p:txBody>
      </p:sp>
      <p:sp>
        <p:nvSpPr>
          <p:cNvPr id="20" name="done text"/>
          <p:cNvSpPr txBox="1"/>
          <p:nvPr/>
        </p:nvSpPr>
        <p:spPr>
          <a:xfrm>
            <a:off x="6080760" y="192024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Your list has at least 6 items.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Every item is marked.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One item is circled, with a reason.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Step 5: RAG with citations (20 min)</a:t>
            </a:r>
            <a:endParaRPr lang="en-US" sz="3600" dirty="0"/>
          </a:p>
        </p:txBody>
      </p:sp>
      <p:sp>
        <p:nvSpPr>
          <p:cNvPr id="3" name="do card"/>
          <p:cNvSpPr/>
          <p:nvPr/>
        </p:nvSpPr>
        <p:spPr>
          <a:xfrm>
            <a:off x="457200" y="1188720"/>
            <a:ext cx="521208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4" name="do label"/>
          <p:cNvSpPr txBox="1"/>
          <p:nvPr/>
        </p:nvSpPr>
        <p:spPr>
          <a:xfrm>
            <a:off x="6858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DO THIS</a:t>
            </a:r>
            <a:endParaRPr lang="en-US" sz="1200" dirty="0"/>
          </a:p>
        </p:txBody>
      </p:sp>
      <p:sp>
        <p:nvSpPr>
          <p:cNvPr id="5" name="step 1"/>
          <p:cNvSpPr/>
          <p:nvPr/>
        </p:nvSpPr>
        <p:spPr>
          <a:xfrm>
            <a:off x="685800" y="17373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do item 1"/>
          <p:cNvSpPr txBox="1"/>
          <p:nvPr/>
        </p:nvSpPr>
        <p:spPr>
          <a:xfrm>
            <a:off x="1188720" y="1691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Split every notes/*.md file at each "## " heading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685800" y="24231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do item 2"/>
          <p:cNvSpPr txBox="1"/>
          <p:nvPr/>
        </p:nvSpPr>
        <p:spPr>
          <a:xfrm>
            <a:off x="1188720" y="2377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Index sections with minisearch (heading, text). Drop stop words like "the", "of"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85800" y="31089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do item 3"/>
          <p:cNvSpPr txBox="1"/>
          <p:nvPr/>
        </p:nvSpPr>
        <p:spPr>
          <a:xfrm>
            <a:off x="118872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Send the top 3 sections to the model: answer only from sources, cite [file &gt; heading]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685800" y="3794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do item 4"/>
          <p:cNvSpPr txBox="1"/>
          <p:nvPr/>
        </p:nvSpPr>
        <p:spPr>
          <a:xfrm>
            <a:off x="118872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search hits? Answer "not in the notes" without calling the model</a:t>
            </a:r>
            <a:endParaRPr lang="en-US" sz="1400" dirty="0"/>
          </a:p>
        </p:txBody>
      </p:sp>
      <p:sp>
        <p:nvSpPr>
          <p:cNvPr id="17" name="done card"/>
          <p:cNvSpPr/>
          <p:nvPr/>
        </p:nvSpPr>
        <p:spPr>
          <a:xfrm>
            <a:off x="5852160" y="1188720"/>
            <a:ext cx="2834640" cy="333756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/>
        </p:spPr>
      </p:sp>
      <p:pic>
        <p:nvPicPr>
          <p:cNvPr id="18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365760" cy="365760"/>
          </a:xfrm>
          <a:prstGeom prst="rect">
            <a:avLst/>
          </a:prstGeom>
        </p:spPr>
      </p:pic>
      <p:sp>
        <p:nvSpPr>
          <p:cNvPr id="19" name="done label"/>
          <p:cNvSpPr txBox="1"/>
          <p:nvPr/>
        </p:nvSpPr>
        <p:spPr>
          <a:xfrm>
            <a:off x="65836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DONE WHEN</a:t>
            </a:r>
            <a:endParaRPr lang="en-US" sz="1300" dirty="0"/>
          </a:p>
        </p:txBody>
      </p:sp>
      <p:sp>
        <p:nvSpPr>
          <p:cNvPr id="20" name="done text"/>
          <p:cNvSpPr txBox="1"/>
          <p:nvPr/>
        </p:nvSpPr>
        <p:spPr>
          <a:xfrm>
            <a:off x="6080760" y="192024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Context window question: answered, cites context-window.md.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"Wi-Fi password in Lab 3?" gets exactly: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not in the notes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Step 6: Agent SDK (15 min)</a:t>
            </a:r>
            <a:endParaRPr lang="en-US" sz="3600" dirty="0"/>
          </a:p>
        </p:txBody>
      </p:sp>
      <p:sp>
        <p:nvSpPr>
          <p:cNvPr id="3" name="do card"/>
          <p:cNvSpPr/>
          <p:nvPr/>
        </p:nvSpPr>
        <p:spPr>
          <a:xfrm>
            <a:off x="457200" y="1188720"/>
            <a:ext cx="521208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</p:spPr>
      </p:sp>
      <p:sp>
        <p:nvSpPr>
          <p:cNvPr id="4" name="do label"/>
          <p:cNvSpPr txBox="1"/>
          <p:nvPr/>
        </p:nvSpPr>
        <p:spPr>
          <a:xfrm>
            <a:off x="6858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DO THIS</a:t>
            </a:r>
            <a:endParaRPr lang="en-US" sz="1200" dirty="0"/>
          </a:p>
        </p:txBody>
      </p:sp>
      <p:sp>
        <p:nvSpPr>
          <p:cNvPr id="5" name="step 1"/>
          <p:cNvSpPr/>
          <p:nvPr/>
        </p:nvSpPr>
        <p:spPr>
          <a:xfrm>
            <a:off x="685800" y="17373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do item 1"/>
          <p:cNvSpPr txBox="1"/>
          <p:nvPr/>
        </p:nvSpPr>
        <p:spPr>
          <a:xfrm>
            <a:off x="1188720" y="1691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Rebuild the agent with query() from @anthropic-ai/claude-agent-sdk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685800" y="24231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do item 2"/>
          <p:cNvSpPr txBox="1"/>
          <p:nvPr/>
        </p:nvSpPr>
        <p:spPr>
          <a:xfrm>
            <a:off x="1188720" y="2377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Point mcpServers at your Step 3 server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85800" y="31089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do item 3"/>
          <p:cNvSpPr txBox="1"/>
          <p:nvPr/>
        </p:nvSpPr>
        <p:spPr>
          <a:xfrm>
            <a:off x="118872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allowedTools, maxTurns: 6 and tools: [] (no Bash, no files)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685800" y="3794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do item 4"/>
          <p:cNvSpPr txBox="1"/>
          <p:nvPr/>
        </p:nvSpPr>
        <p:spPr>
          <a:xfrm>
            <a:off x="118872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settingSources: [] so it ignores your personal settings</a:t>
            </a:r>
            <a:endParaRPr lang="en-US" sz="1400" dirty="0"/>
          </a:p>
        </p:txBody>
      </p:sp>
      <p:sp>
        <p:nvSpPr>
          <p:cNvPr id="17" name="done card"/>
          <p:cNvSpPr/>
          <p:nvPr/>
        </p:nvSpPr>
        <p:spPr>
          <a:xfrm>
            <a:off x="5852160" y="1188720"/>
            <a:ext cx="2834640" cy="333756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/>
        </p:spPr>
      </p:sp>
      <p:pic>
        <p:nvPicPr>
          <p:cNvPr id="18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365760" cy="365760"/>
          </a:xfrm>
          <a:prstGeom prst="rect">
            <a:avLst/>
          </a:prstGeom>
        </p:spPr>
      </p:pic>
      <p:sp>
        <p:nvSpPr>
          <p:cNvPr id="19" name="done label"/>
          <p:cNvSpPr txBox="1"/>
          <p:nvPr/>
        </p:nvSpPr>
        <p:spPr>
          <a:xfrm>
            <a:off x="65836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DONE WHEN</a:t>
            </a:r>
            <a:endParaRPr lang="en-US" sz="1300" dirty="0"/>
          </a:p>
        </p:txBody>
      </p:sp>
      <p:sp>
        <p:nvSpPr>
          <p:cNvPr id="20" name="done text"/>
          <p:cNvSpPr txBox="1"/>
          <p:nvPr/>
        </p:nvSpPr>
        <p:spPr>
          <a:xfrm>
            <a:off x="6080760" y="192024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It answers the Step 1 question.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You can list the code you deleted: loop, message list, tool dispatch, step counter.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Step 7: Guardrails (15 min)</a:t>
            </a:r>
            <a:endParaRPr lang="en-US" sz="3600" dirty="0"/>
          </a:p>
        </p:txBody>
      </p:sp>
      <p:graphicFrame>
        <p:nvGraphicFramePr>
          <p:cNvPr id="27" name="guardrai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2120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97280"/>
                <a:gridCol w="3749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Guardrail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Reject a task over 300 characters before calling the 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Tool args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Validate every call with zod. On failure, send the error to the 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Approval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Ask y/n before add_item writes. Anything but y means no write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Replace phone numbers like 01711-000000 with [phone hidden]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done card"/>
          <p:cNvSpPr/>
          <p:nvPr/>
        </p:nvSpPr>
        <p:spPr>
          <a:xfrm>
            <a:off x="5852160" y="1188720"/>
            <a:ext cx="2834640" cy="333756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/>
        </p:spPr>
      </p:sp>
      <p:pic>
        <p:nvPicPr>
          <p:cNvPr id="5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365760" cy="365760"/>
          </a:xfrm>
          <a:prstGeom prst="rect">
            <a:avLst/>
          </a:prstGeom>
        </p:spPr>
      </p:pic>
      <p:sp>
        <p:nvSpPr>
          <p:cNvPr id="6" name="done label"/>
          <p:cNvSpPr txBox="1"/>
          <p:nvPr/>
        </p:nvSpPr>
        <p:spPr>
          <a:xfrm>
            <a:off x="65836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DONE WHEN</a:t>
            </a:r>
            <a:endParaRPr lang="en-US" sz="1300" dirty="0"/>
          </a:p>
        </p:txBody>
      </p:sp>
      <p:sp>
        <p:nvSpPr>
          <p:cNvPr id="7" name="done text"/>
          <p:cNvSpPr txBox="1"/>
          <p:nvPr/>
        </p:nvSpPr>
        <p:spPr>
          <a:xfrm>
            <a:off x="6080760" y="192024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 400-character task is blocked.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"Add: found a green scarf at Room 105" asks y/n. Answer n and items.json is unchanged.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Mehedi's contact number is never shown.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Stretch goals and hand in</a:t>
            </a:r>
            <a:endParaRPr lang="en-US" sz="3600" dirty="0"/>
          </a:p>
        </p:txBody>
      </p:sp>
      <p:sp>
        <p:nvSpPr>
          <p:cNvPr id="3" name="stretch card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stretch text"/>
          <p:cNvSpPr txBox="1"/>
          <p:nvPr/>
        </p:nvSpPr>
        <p:spPr>
          <a:xfrm>
            <a:off x="640080" y="13258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Stretch goals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Break your own guardrails two ways, then fix 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mark_claimed(id) behind an approval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Ask a clarifying question when search finds nothing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Print the cost of each run</a:t>
            </a:r>
            <a:endParaRPr lang="en-US" sz="1500" dirty="0"/>
          </a:p>
        </p:txBody>
      </p:sp>
      <p:sp>
        <p:nvSpPr>
          <p:cNvPr id="5" name="handin card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tx1"/>
          </a:solidFill>
          <a:ln/>
        </p:spPr>
      </p:sp>
      <p:sp>
        <p:nvSpPr>
          <p:cNvPr id="6" name="handin text"/>
          <p:cNvSpPr txBox="1"/>
          <p:nvPr/>
        </p:nvSpPr>
        <p:spPr>
          <a:xfrm>
            <a:off x="4846320" y="13258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6"/>
                </a:solidFill>
              </a:rPr>
              <a:t>Show the instructor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Your Step 2 results table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screenshot of Claude Code calling your MCP tool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Your Step 4 list, with the circled item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st and Found">
  <a:themeElements>
    <a:clrScheme name="Lost and Found">
      <a:dk1>
        <a:srgbClr val="16171C"/>
      </a:dk1>
      <a:lt1>
        <a:srgbClr val="FFFFFF"/>
      </a:lt1>
      <a:dk2>
        <a:srgbClr val="2B2D36"/>
      </a:dk2>
      <a:lt2>
        <a:srgbClr val="F1F3F5"/>
      </a:lt2>
      <a:accent1>
        <a:srgbClr val="F4A300"/>
      </a:accent1>
      <a:accent2>
        <a:srgbClr val="1FB5A8"/>
      </a:accent2>
      <a:accent3>
        <a:srgbClr val="E4572E"/>
      </a:accent3>
      <a:accent4>
        <a:srgbClr val="5B6472"/>
      </a:accent4>
      <a:accent5>
        <a:srgbClr val="AAB2C0"/>
      </a:accent5>
      <a:accent6>
        <a:srgbClr val="FFD166"/>
      </a:accent6>
      <a:hlink>
        <a:srgbClr val="1FB5A8"/>
      </a:hlink>
      <a:folHlink>
        <a:srgbClr val="5B6472"/>
      </a:folHlink>
    </a:clrScheme>
    <a:fontScheme name="Lost and Fou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Loop to Agent</dc:title>
  <dc:subject>IIT Agentic AI Workshop, Day 1, Session 3</dc:subject>
  <dc:creator>Jitesh Sureka</dc:creator>
  <cp:lastModifiedBy>Jitesh Sureka</cp:lastModifiedBy>
  <cp:revision>1</cp:revision>
  <dcterms:created xsi:type="dcterms:W3CDTF">2026-10-16T18:19:33Z</dcterms:created>
  <dcterms:modified xsi:type="dcterms:W3CDTF">2026-10-16T18:19:33Z</dcterms:modified>
</cp:coreProperties>
</file>